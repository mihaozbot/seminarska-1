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F_F96E047F.xml" ContentType="application/vnd.ms-powerpoint.comments+xml"/>
  <Override PartName="/ppt/notesSlides/notesSlide6.xml" ContentType="application/vnd.openxmlformats-officedocument.presentationml.notesSlide+xml"/>
  <Override PartName="/ppt/comments/modernComment_11E_C901B684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10_FAD9860D.xml" ContentType="application/vnd.ms-powerpoint.comments+xml"/>
  <Override PartName="/ppt/notesSlides/notesSlide9.xml" ContentType="application/vnd.openxmlformats-officedocument.presentationml.notesSlide+xml"/>
  <Override PartName="/ppt/comments/modernComment_111_C1265F66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15_69ED7051.xml" ContentType="application/vnd.ms-powerpoint.comments+xml"/>
  <Override PartName="/ppt/notesSlides/notesSlide13.xml" ContentType="application/vnd.openxmlformats-officedocument.presentationml.notesSlide+xml"/>
  <Override PartName="/ppt/comments/modernComment_117_A9D910F1.xml" ContentType="application/vnd.ms-powerpoint.comments+xml"/>
  <Override PartName="/ppt/notesSlides/notesSlide14.xml" ContentType="application/vnd.openxmlformats-officedocument.presentationml.notesSlide+xml"/>
  <Override PartName="/ppt/comments/modernComment_116_CE50F583.xml" ContentType="application/vnd.ms-powerpoint.comments+xml"/>
  <Override PartName="/ppt/notesSlides/notesSlide15.xml" ContentType="application/vnd.openxmlformats-officedocument.presentationml.notesSlide+xml"/>
  <Override PartName="/ppt/comments/modernComment_121_E14051A.xml" ContentType="application/vnd.ms-powerpoint.comments+xml"/>
  <Override PartName="/ppt/notesSlides/notesSlide16.xml" ContentType="application/vnd.openxmlformats-officedocument.presentationml.notesSlide+xml"/>
  <Override PartName="/ppt/comments/modernComment_118_9A12B3C3.xml" ContentType="application/vnd.ms-powerpoint.comments+xml"/>
  <Override PartName="/ppt/notesSlides/notesSlide17.xml" ContentType="application/vnd.openxmlformats-officedocument.presentationml.notesSlide+xml"/>
  <Override PartName="/ppt/comments/modernComment_119_E8B4A55E.xml" ContentType="application/vnd.ms-powerpoint.comments+xml"/>
  <Override PartName="/ppt/notesSlides/notesSlide18.xml" ContentType="application/vnd.openxmlformats-officedocument.presentationml.notesSlide+xml"/>
  <Override PartName="/ppt/comments/modernComment_11A_3451E80B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67" r:id="rId2"/>
    <p:sldId id="268" r:id="rId3"/>
    <p:sldId id="285" r:id="rId4"/>
    <p:sldId id="269" r:id="rId5"/>
    <p:sldId id="271" r:id="rId6"/>
    <p:sldId id="286" r:id="rId7"/>
    <p:sldId id="276" r:id="rId8"/>
    <p:sldId id="272" r:id="rId9"/>
    <p:sldId id="273" r:id="rId10"/>
    <p:sldId id="274" r:id="rId11"/>
    <p:sldId id="275" r:id="rId12"/>
    <p:sldId id="277" r:id="rId13"/>
    <p:sldId id="279" r:id="rId14"/>
    <p:sldId id="278" r:id="rId15"/>
    <p:sldId id="289" r:id="rId16"/>
    <p:sldId id="280" r:id="rId17"/>
    <p:sldId id="281" r:id="rId18"/>
    <p:sldId id="282" r:id="rId19"/>
    <p:sldId id="283" r:id="rId20"/>
    <p:sldId id="287" r:id="rId21"/>
    <p:sldId id="284" r:id="rId22"/>
    <p:sldId id="288" r:id="rId23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CAA44F-8C06-06A4-9B46-843E92AFBC2B}" name="OŽBOT, MIHA" initials="OM" userId="S::mo1170@student.uni-lj.si::36448ee4-d56c-450a-8c5f-e012d647b106" providerId="AD"/>
  <p188:author id="{C6F2067D-C351-4052-C3C5-B9A94ED1B56D}" name="Ožbot, Miha" initials="OM" userId="Ožbot, Mih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D865C-4B1F-4AEE-9BBD-C0A0A0777F1B}" v="42" dt="2022-04-13T20:43:50.979"/>
    <p1510:client id="{DA6D7A36-FD06-4299-B4EF-EA3576B5A723}" v="1" dt="2022-04-14T09:38:09.251"/>
    <p1510:client id="{DE325AE3-D4EB-4B3A-973B-D751563C2A91}" v="45" dt="2022-04-14T09:29:30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65" autoAdjust="0"/>
    <p:restoredTop sz="95714" autoAdjust="0"/>
  </p:normalViewPr>
  <p:slideViewPr>
    <p:cSldViewPr snapToGrid="0">
      <p:cViewPr varScale="1">
        <p:scale>
          <a:sx n="99" d="100"/>
          <a:sy n="99" d="100"/>
        </p:scale>
        <p:origin x="234" y="7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6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žbot, Miha" userId="5fdfeab2-e3ac-40dc-9f9d-ac602c9b72a8" providerId="ADAL" clId="{96387E43-BB33-402B-9901-CB786189506B}"/>
    <pc:docChg chg="undo custSel modSld">
      <pc:chgData name="Ožbot, Miha" userId="5fdfeab2-e3ac-40dc-9f9d-ac602c9b72a8" providerId="ADAL" clId="{96387E43-BB33-402B-9901-CB786189506B}" dt="2022-04-14T10:13:12.852" v="43" actId="27636"/>
      <pc:docMkLst>
        <pc:docMk/>
      </pc:docMkLst>
      <pc:sldChg chg="modSp mod">
        <pc:chgData name="Ožbot, Miha" userId="5fdfeab2-e3ac-40dc-9f9d-ac602c9b72a8" providerId="ADAL" clId="{96387E43-BB33-402B-9901-CB786189506B}" dt="2022-04-14T10:05:40.531" v="41" actId="20577"/>
        <pc:sldMkLst>
          <pc:docMk/>
          <pc:sldMk cId="3904152926" sldId="281"/>
        </pc:sldMkLst>
        <pc:spChg chg="mod">
          <ac:chgData name="Ožbot, Miha" userId="5fdfeab2-e3ac-40dc-9f9d-ac602c9b72a8" providerId="ADAL" clId="{96387E43-BB33-402B-9901-CB786189506B}" dt="2022-04-14T10:04:59.536" v="19" actId="20577"/>
          <ac:spMkLst>
            <pc:docMk/>
            <pc:sldMk cId="3904152926" sldId="281"/>
            <ac:spMk id="3" creationId="{FF9CEB20-11ED-49A7-A1FC-827249F25E3F}"/>
          </ac:spMkLst>
        </pc:spChg>
        <pc:spChg chg="mod">
          <ac:chgData name="Ožbot, Miha" userId="5fdfeab2-e3ac-40dc-9f9d-ac602c9b72a8" providerId="ADAL" clId="{96387E43-BB33-402B-9901-CB786189506B}" dt="2022-04-14T10:05:40.531" v="41" actId="20577"/>
          <ac:spMkLst>
            <pc:docMk/>
            <pc:sldMk cId="3904152926" sldId="281"/>
            <ac:spMk id="12" creationId="{7BDBCDF1-8F7D-4AF8-9E1B-038AAD58F273}"/>
          </ac:spMkLst>
        </pc:spChg>
      </pc:sldChg>
      <pc:sldChg chg="modSp mod">
        <pc:chgData name="Ožbot, Miha" userId="5fdfeab2-e3ac-40dc-9f9d-ac602c9b72a8" providerId="ADAL" clId="{96387E43-BB33-402B-9901-CB786189506B}" dt="2022-04-14T10:13:12.852" v="43" actId="27636"/>
        <pc:sldMkLst>
          <pc:docMk/>
          <pc:sldMk cId="1082004255" sldId="287"/>
        </pc:sldMkLst>
        <pc:spChg chg="mod">
          <ac:chgData name="Ožbot, Miha" userId="5fdfeab2-e3ac-40dc-9f9d-ac602c9b72a8" providerId="ADAL" clId="{96387E43-BB33-402B-9901-CB786189506B}" dt="2022-04-14T10:13:12.852" v="43" actId="27636"/>
          <ac:spMkLst>
            <pc:docMk/>
            <pc:sldMk cId="1082004255" sldId="287"/>
            <ac:spMk id="2" creationId="{33AC806F-76B1-43B6-8CA1-6EDE0AFBE77F}"/>
          </ac:spMkLst>
        </pc:spChg>
      </pc:sldChg>
    </pc:docChg>
  </pc:docChgLst>
</pc:chgInfo>
</file>

<file path=ppt/comments/modernComment_10F_F96E04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6A4929-662E-4DD8-8BBB-04696FF07452}" authorId="{C6F2067D-C351-4052-C3C5-B9A94ED1B56D}" created="2022-04-13T11:28:44.7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84736895" sldId="271"/>
      <ac:picMk id="11" creationId="{54E9ED50-A3E4-4040-8F2C-1F9E782B0BAF}"/>
    </ac:deMkLst>
    <p188:txBody>
      <a:bodyPr/>
      <a:lstStyle/>
      <a:p>
        <a:r>
          <a:rPr lang="sl-SI"/>
          <a:t>54</a:t>
        </a:r>
      </a:p>
    </p188:txBody>
  </p188:cm>
</p188:cmLst>
</file>

<file path=ppt/comments/modernComment_11A_3451E8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A2C448-95AA-44C4-8FB0-B099A032415D}" authorId="{C6F2067D-C351-4052-C3C5-B9A94ED1B56D}" created="2022-04-13T07:28:24.7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77783051" sldId="282"/>
      <ac:picMk id="6" creationId="{22993324-5225-4517-8700-DCDAE7E8F727}"/>
    </ac:deMkLst>
    <p188:txBody>
      <a:bodyPr/>
      <a:lstStyle/>
      <a:p>
        <a:r>
          <a:rPr lang="sl-SI"/>
          <a:t>44</a:t>
        </a:r>
      </a:p>
    </p188:txBody>
  </p188:cm>
  <p188:cm id="{750A5338-5CF7-48D9-B3B8-D8BB2F13F66F}" authorId="{C6F2067D-C351-4052-C3C5-B9A94ED1B56D}" created="2022-04-13T07:29:13.6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77783051" sldId="282"/>
      <ac:picMk id="7" creationId="{3AEBCE64-73E8-4850-89A4-FE6B5C372512}"/>
    </ac:deMkLst>
    <p188:txBody>
      <a:bodyPr/>
      <a:lstStyle/>
      <a:p>
        <a:r>
          <a:rPr lang="sl-SI"/>
          <a:t>48</a:t>
        </a:r>
      </a:p>
    </p188:txBody>
  </p188:cm>
</p188:cmLst>
</file>

<file path=ppt/comments/modernComment_11E_C901B6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79C7F-8E82-4164-9AE7-7A097CECB875}" authorId="{C6F2067D-C351-4052-C3C5-B9A94ED1B56D}" created="2022-04-12T16:13: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72332676" sldId="286"/>
      <ac:picMk id="12" creationId="{0659CA1E-78AE-4B20-B988-09B42C7E702A}"/>
    </ac:deMkLst>
    <p188:txBody>
      <a:bodyPr/>
      <a:lstStyle/>
      <a:p>
        <a:r>
          <a:rPr lang="sl-SI"/>
          <a:t>Denfis [4]</a:t>
        </a:r>
      </a:p>
    </p188:txBody>
  </p188:cm>
</p188:cmLst>
</file>

<file path=ppt/comments/modernComment_110_FAD986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44E817-808F-4523-B883-0874CBD4704C}" authorId="{C6F2067D-C351-4052-C3C5-B9A94ED1B56D}" created="2022-04-12T16:11:00.5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7" creationId="{B716A637-5B18-4C90-97D1-63B8180BAB81}"/>
    </ac:deMkLst>
    <p188:txBody>
      <a:bodyPr/>
      <a:lstStyle/>
      <a:p>
        <a:r>
          <a:rPr lang="sl-SI"/>
          <a:t>46
</a:t>
        </a:r>
      </a:p>
    </p188:txBody>
  </p188:cm>
  <p188:cm id="{06E3FE7A-ABE1-4FF3-A33E-FAEC788A9C11}" authorId="{C6F2067D-C351-4052-C3C5-B9A94ED1B56D}" created="2022-04-12T16:18:09.5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9" creationId="{57EAB7B9-C178-4EC6-9A26-2FCA9232B392}"/>
    </ac:deMkLst>
    <p188:txBody>
      <a:bodyPr/>
      <a:lstStyle/>
      <a:p>
        <a:r>
          <a:rPr lang="sl-SI"/>
          <a:t>[41]</a:t>
        </a:r>
      </a:p>
    </p188:txBody>
  </p188:cm>
  <p188:cm id="{B794C31B-EBBA-4FCA-A5B0-4CB0F73937F1}" authorId="{C6F2067D-C351-4052-C3C5-B9A94ED1B56D}" created="2022-04-12T16:33:41.9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11" creationId="{908DF426-1E34-4908-A0BC-B039426CE6CD}"/>
    </ac:deMkLst>
    <p188:txBody>
      <a:bodyPr/>
      <a:lstStyle/>
      <a:p>
        <a:r>
          <a:rPr lang="sl-SI"/>
          <a:t>11</a:t>
        </a:r>
      </a:p>
    </p188:txBody>
  </p188:cm>
  <p188:cm id="{682C442A-2366-4B8F-A658-05FBF0DD22AE}" authorId="{C6F2067D-C351-4052-C3C5-B9A94ED1B56D}" created="2022-04-13T11:08:31.8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8" creationId="{4A8E360B-A1E2-4AED-9D54-4F79BE2BA04D}"/>
    </ac:deMkLst>
    <p188:txBody>
      <a:bodyPr/>
      <a:lstStyle/>
      <a:p>
        <a:r>
          <a:rPr lang="sl-SI"/>
          <a:t>54
</a:t>
        </a:r>
      </a:p>
    </p188:txBody>
  </p188:cm>
  <p188:cm id="{C2D3AD57-1566-4C02-8C67-24890BB3E15A}" authorId="{C6F2067D-C351-4052-C3C5-B9A94ED1B56D}" created="2022-04-13T13:58:45.6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12" creationId="{35BE1C1F-18FF-41CA-8072-6B4D8C91FD66}"/>
    </ac:deMkLst>
    <p188:txBody>
      <a:bodyPr/>
      <a:lstStyle/>
      <a:p>
        <a:r>
          <a:rPr lang="sl-SI"/>
          <a:t>43</a:t>
        </a:r>
      </a:p>
    </p188:txBody>
  </p188:cm>
</p188:cmLst>
</file>

<file path=ppt/comments/modernComment_111_C1265F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5752A01-A1D0-461E-9A7E-19C2166987E8}" authorId="{C6F2067D-C351-4052-C3C5-B9A94ED1B56D}" created="2022-04-12T16:21:17.0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8" creationId="{F057BFDF-3E42-4BB8-8623-4B77CC94745D}"/>
    </ac:deMkLst>
    <p188:txBody>
      <a:bodyPr/>
      <a:lstStyle/>
      <a:p>
        <a:r>
          <a:rPr lang="sl-SI"/>
          <a:t>43</a:t>
        </a:r>
      </a:p>
    </p188:txBody>
  </p188:cm>
  <p188:cm id="{01E5A444-AA4D-42C9-9A49-AF8FCA63C019}" authorId="{74CAA44F-8C06-06A4-9B46-843E92AFBC2B}" created="2022-04-13T20:15:45.0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14" creationId="{55479145-6CF5-47A0-93D5-23934F8F8EFF}"/>
    </ac:deMkLst>
    <p188:txBody>
      <a:bodyPr/>
      <a:lstStyle/>
      <a:p>
        <a:r>
          <a:rPr lang="sl-SI"/>
          <a:t>39</a:t>
        </a:r>
      </a:p>
    </p188:txBody>
  </p188:cm>
  <p188:cm id="{FA8A2BA6-C059-4D4F-B4B0-8EB8EBCFBA9F}" authorId="{74CAA44F-8C06-06A4-9B46-843E92AFBC2B}" created="2022-04-13T20:16:12.1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19" creationId="{D35C37BC-E55C-473D-B7A2-48AD29E8CD53}"/>
    </ac:deMkLst>
    <p188:txBody>
      <a:bodyPr/>
      <a:lstStyle/>
      <a:p>
        <a:r>
          <a:rPr lang="sl-SI"/>
          <a:t>49</a:t>
        </a:r>
      </a:p>
    </p188:txBody>
  </p188:cm>
</p188:cmLst>
</file>

<file path=ppt/comments/modernComment_115_69ED70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C4C2E6-4913-41E6-854C-6CAC8D2131D8}" authorId="{C6F2067D-C351-4052-C3C5-B9A94ED1B56D}" created="2022-04-12T16:24:39.43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5" creationId="{9285C982-D10D-4F3A-8964-EB41CAA88E0D}"/>
    </ac:deMkLst>
    <p188:txBody>
      <a:bodyPr/>
      <a:lstStyle/>
      <a:p>
        <a:r>
          <a:rPr lang="sl-SI"/>
          <a:t>14
</a:t>
        </a:r>
      </a:p>
    </p188:txBody>
  </p188:cm>
  <p188:cm id="{3FBC24A3-B015-45B9-9D3D-F5849B005377}" authorId="{C6F2067D-C351-4052-C3C5-B9A94ED1B56D}" created="2022-04-12T16:25:01.09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8" creationId="{A291E1AF-4115-4282-B2FE-8F606C019ADE}"/>
    </ac:deMkLst>
    <p188:txBody>
      <a:bodyPr/>
      <a:lstStyle/>
      <a:p>
        <a:r>
          <a:rPr lang="sl-SI"/>
          <a:t>17
</a:t>
        </a:r>
      </a:p>
    </p188:txBody>
  </p188:cm>
  <p188:cm id="{593CAC7E-0FFC-4E94-BC8D-66433D54D19E}" authorId="{C6F2067D-C351-4052-C3C5-B9A94ED1B56D}" created="2022-04-12T16:25:30.7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16" creationId="{C0305A5C-8631-4428-868E-2FC70A2C8434}"/>
    </ac:deMkLst>
    <p188:txBody>
      <a:bodyPr/>
      <a:lstStyle/>
      <a:p>
        <a:r>
          <a:rPr lang="sl-SI"/>
          <a:t>6</a:t>
        </a:r>
      </a:p>
    </p188:txBody>
  </p188:cm>
  <p188:cm id="{1A1CB9AD-C111-470A-A8E6-EBC28EF31568}" authorId="{C6F2067D-C351-4052-C3C5-B9A94ED1B56D}" created="2022-04-12T16:33:34.7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9" creationId="{08397847-3EC8-41A8-845B-2FBD81FACC24}"/>
    </ac:deMkLst>
    <p188:txBody>
      <a:bodyPr/>
      <a:lstStyle/>
      <a:p>
        <a:r>
          <a:rPr lang="sl-SI"/>
          <a:t>20
</a:t>
        </a:r>
      </a:p>
    </p188:txBody>
  </p188:cm>
  <p188:cm id="{4748F57B-0D8B-4B67-A957-4D71D3588FDD}" authorId="{C6F2067D-C351-4052-C3C5-B9A94ED1B56D}" created="2022-04-13T11:03:57.7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10" creationId="{B04AA810-EACD-4DFC-9DCC-E0C693123864}"/>
    </ac:deMkLst>
    <p188:txBody>
      <a:bodyPr/>
      <a:lstStyle/>
      <a:p>
        <a:r>
          <a:rPr lang="sl-SI"/>
          <a:t>54</a:t>
        </a:r>
      </a:p>
    </p188:txBody>
  </p188:cm>
</p188:cmLst>
</file>

<file path=ppt/comments/modernComment_116_CE50F58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D1DCBD-7F80-4BE8-8E0C-307B18F55DC9}" authorId="{C6F2067D-C351-4052-C3C5-B9A94ED1B56D}" created="2022-04-13T08:09:41.8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9" creationId="{4CE520FE-C4F6-43B8-B031-17947DA23B4B}"/>
    </ac:deMkLst>
    <p188:txBody>
      <a:bodyPr/>
      <a:lstStyle/>
      <a:p>
        <a:r>
          <a:rPr lang="sl-SI"/>
          <a:t>51</a:t>
        </a:r>
      </a:p>
    </p188:txBody>
  </p188:cm>
  <p188:cm id="{C1995BBA-5F22-4E54-A50D-3DBB42C45C7D}" authorId="{C6F2067D-C351-4052-C3C5-B9A94ED1B56D}" created="2022-04-13T08:12:09.07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5" creationId="{D2C874A5-9A3A-423F-80E9-B6066E1F20A5}"/>
    </ac:deMkLst>
    <p188:txBody>
      <a:bodyPr/>
      <a:lstStyle/>
      <a:p>
        <a:r>
          <a:rPr lang="sl-SI"/>
          <a:t>6</a:t>
        </a:r>
      </a:p>
    </p188:txBody>
  </p188:cm>
  <p188:cm id="{1B91BB14-4C02-4575-9D70-DEECE526D0A9}" authorId="{C6F2067D-C351-4052-C3C5-B9A94ED1B56D}" created="2022-04-13T08:12:16.1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4" creationId="{36793C1F-057D-4B6B-9D4A-9F59918B829B}"/>
    </ac:deMkLst>
    <p188:txBody>
      <a:bodyPr/>
      <a:lstStyle/>
      <a:p>
        <a:r>
          <a:rPr lang="sl-SI"/>
          <a:t>5</a:t>
        </a:r>
      </a:p>
    </p188:txBody>
  </p188:cm>
</p188:cmLst>
</file>

<file path=ppt/comments/modernComment_117_A9D910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929065-FE77-4949-A180-D8BB560F99C7}" authorId="{C6F2067D-C351-4052-C3C5-B9A94ED1B56D}" created="2022-04-12T17:47:15.6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4" creationId="{5CCB4BE9-CBDD-45AF-AA81-7DCEE4C1DEE0}"/>
    </ac:deMkLst>
    <p188:txBody>
      <a:bodyPr/>
      <a:lstStyle/>
      <a:p>
        <a:r>
          <a:rPr lang="sl-SI"/>
          <a:t>[51]</a:t>
        </a:r>
      </a:p>
    </p188:txBody>
  </p188:cm>
  <p188:cm id="{1D89904C-A593-429D-BDC5-8CF3F3D75546}" authorId="{C6F2067D-C351-4052-C3C5-B9A94ED1B56D}" created="2022-04-13T10:48:01.3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7" creationId="{B8D96EC5-A7EA-4DD7-9156-AA907DF54DEE}"/>
    </ac:deMkLst>
    <p188:txBody>
      <a:bodyPr/>
      <a:lstStyle/>
      <a:p>
        <a:r>
          <a:rPr lang="sl-SI"/>
          <a:t>5</a:t>
        </a:r>
      </a:p>
    </p188:txBody>
  </p188:cm>
  <p188:cm id="{EF79BCEA-040D-45B1-9119-1B5707125466}" authorId="{C6F2067D-C351-4052-C3C5-B9A94ED1B56D}" created="2022-04-13T11:07:22.4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8" creationId="{D8221DEE-20B2-42A7-95A7-353C353DA5D7}"/>
    </ac:deMkLst>
    <p188:txBody>
      <a:bodyPr/>
      <a:lstStyle/>
      <a:p>
        <a:r>
          <a:rPr lang="sl-SI"/>
          <a:t>54</a:t>
        </a:r>
      </a:p>
    </p188:txBody>
  </p188:cm>
  <p188:cm id="{2F47BF09-6D45-461A-BDEA-3B0A6B42C9EC}" authorId="{C6F2067D-C351-4052-C3C5-B9A94ED1B56D}" created="2022-04-14T08:11:47.5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4" creationId="{05AE727E-5F2F-448B-B67B-8E426C9AD95E}"/>
    </ac:deMkLst>
    <p188:txBody>
      <a:bodyPr/>
      <a:lstStyle/>
      <a:p>
        <a:r>
          <a:rPr lang="sl-SI"/>
          <a:t>43</a:t>
        </a:r>
      </a:p>
    </p188:txBody>
  </p188:cm>
  <p188:cm id="{1921EFB3-95DE-4F71-9834-CA810FC54839}" authorId="{C6F2067D-C351-4052-C3C5-B9A94ED1B56D}" created="2022-04-14T08:30:34.16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5" creationId="{1A77BCA0-EEE7-4F69-8A51-C23D6C7089FE}"/>
    </ac:deMkLst>
    <p188:txBody>
      <a:bodyPr/>
      <a:lstStyle/>
      <a:p>
        <a:r>
          <a:rPr lang="sl-SI"/>
          <a:t>56</a:t>
        </a:r>
      </a:p>
    </p188:txBody>
  </p188:cm>
</p188:cmLst>
</file>

<file path=ppt/comments/modernComment_118_9A12B3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FEAFB9-4F8C-48F3-A25F-645440A475FC}" authorId="{C6F2067D-C351-4052-C3C5-B9A94ED1B56D}" created="2022-04-14T07:46:13.3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4916931" sldId="280"/>
      <ac:picMk id="9" creationId="{157CEC1B-36E1-4CFC-944A-F6C0BF7E768F}"/>
    </ac:deMkLst>
    <p188:txBody>
      <a:bodyPr/>
      <a:lstStyle/>
      <a:p>
        <a:r>
          <a:rPr lang="sl-SI"/>
          <a:t>22</a:t>
        </a:r>
      </a:p>
    </p188:txBody>
  </p188:cm>
</p188:cmLst>
</file>

<file path=ppt/comments/modernComment_119_E8B4A5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E5CF8D8-E29A-4DA8-8407-D2796CCC609C}" authorId="{C6F2067D-C351-4052-C3C5-B9A94ED1B56D}" created="2022-04-14T07:37:10.1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04152926" sldId="281"/>
      <ac:picMk id="5" creationId="{85FA5BB3-5F27-498A-A5B1-638AB5C57B3F}"/>
    </ac:deMkLst>
    <p188:txBody>
      <a:bodyPr/>
      <a:lstStyle/>
      <a:p>
        <a:r>
          <a:rPr lang="sl-SI"/>
          <a:t>45</a:t>
        </a:r>
      </a:p>
    </p188:txBody>
  </p188:cm>
</p188:cmLst>
</file>

<file path=ppt/comments/modernComment_121_E1405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48302D-850B-4F1B-B608-B7FB52290592}" authorId="{C6F2067D-C351-4052-C3C5-B9A94ED1B56D}" created="2022-04-13T10:45:03.1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6193050" sldId="289"/>
      <ac:picMk id="6" creationId="{CA1D2712-165F-47E1-B96B-7C27BD1694DA}"/>
    </ac:deMkLst>
    <p188:txBody>
      <a:bodyPr/>
      <a:lstStyle/>
      <a:p>
        <a:r>
          <a:rPr lang="sl-SI"/>
          <a:t>53
</a:t>
        </a:r>
      </a:p>
    </p188:txBody>
  </p188:cm>
  <p188:cm id="{05EB6093-CAAE-49E0-B066-75100DA353EE}" authorId="{C6F2067D-C351-4052-C3C5-B9A94ED1B56D}" created="2022-04-13T14:53:26.9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6193050" sldId="289"/>
      <ac:picMk id="19" creationId="{42663209-40E7-4D5F-8D68-EB48F75F7800}"/>
    </ac:deMkLst>
    <p188:txBody>
      <a:bodyPr/>
      <a:lstStyle/>
      <a:p>
        <a:r>
          <a:rPr lang="sl-SI"/>
          <a:t>5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146C8-862D-42FE-A0BD-CFE330564DFF}" type="datetimeFigureOut">
              <a:rPr lang="sl-SI" smtClean="0"/>
              <a:t>14. 04. 2022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5F0E0-E88B-4C5C-8D43-68FAFD3B86B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1255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15482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200" dirty="0" err="1">
                <a:ea typeface="Calibri" panose="020F0502020204030204" pitchFamily="34" charset="0"/>
                <a:cs typeface="Times New Roman" panose="02020603050405020304" pitchFamily="18" charset="0"/>
              </a:rPr>
              <a:t>Samorazvijajoče</a:t>
            </a:r>
            <a:r>
              <a:rPr lang="sl-SI" sz="1200" dirty="0">
                <a:ea typeface="Calibri" panose="020F0502020204030204" pitchFamily="34" charset="0"/>
                <a:cs typeface="Times New Roman" panose="02020603050405020304" pitchFamily="18" charset="0"/>
              </a:rPr>
              <a:t> se modele lahko razdelimo v različne kategorije gleda na njihovo strukturo, način učenja, nivo avtonomije adaptacije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[7]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Optimal rule-based granular systems from data streams. IEEE Transactions on Fuzzy Systems, 28(3), 583–596.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Dovzan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(2020). Fuzzy Space Partitioning Based on Hyperplanes Defined by Eigenvectors for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 Identification. IEEE Transactions on Industrial Electronics, 67(6), 5144–5153.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[42]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Lemos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Caminhas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(2010). Evolving fuzzy linear regression trees.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2010 IEEE World Congress on Computational Intelligence, WCCI 2010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2911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9169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[31]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08595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36702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56419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sz="1200" dirty="0"/>
              <a:t>Razločljivost (</a:t>
            </a:r>
            <a:r>
              <a:rPr lang="en-US" sz="1200" dirty="0"/>
              <a:t>Distinguishability </a:t>
            </a:r>
            <a:r>
              <a:rPr lang="sl-SI" sz="1200" dirty="0"/>
              <a:t>) – brez prekrivanja (</a:t>
            </a:r>
            <a:r>
              <a:rPr lang="sl-SI" sz="1200" dirty="0" err="1"/>
              <a:t>overlapping</a:t>
            </a:r>
            <a:r>
              <a:rPr lang="sl-SI" sz="1200" dirty="0"/>
              <a:t>), brez odvečnih struktur</a:t>
            </a:r>
            <a:r>
              <a:rPr lang="en-US" sz="1200" dirty="0"/>
              <a:t> [12]</a:t>
            </a:r>
            <a:endParaRPr lang="sl-SI" sz="1200" dirty="0"/>
          </a:p>
          <a:p>
            <a:r>
              <a:rPr lang="sl-SI" sz="1200" dirty="0"/>
              <a:t>Preprostost (</a:t>
            </a:r>
            <a:r>
              <a:rPr lang="en-US" sz="1200" dirty="0"/>
              <a:t>simplicity </a:t>
            </a:r>
            <a:r>
              <a:rPr lang="sl-SI" sz="1200" dirty="0"/>
              <a:t>) – čim manj rojev, kompromis med natančnostjo in </a:t>
            </a:r>
            <a:r>
              <a:rPr lang="sl-SI" sz="1200" dirty="0" err="1"/>
              <a:t>kompleksnotjo</a:t>
            </a:r>
            <a:endParaRPr lang="sl-SI" sz="1200" dirty="0"/>
          </a:p>
          <a:p>
            <a:r>
              <a:rPr lang="sl-SI" sz="1200" dirty="0"/>
              <a:t>Konsistentnost (</a:t>
            </a:r>
            <a:r>
              <a:rPr lang="en-US" sz="1200" dirty="0"/>
              <a:t>consistency</a:t>
            </a:r>
            <a:r>
              <a:rPr lang="sl-SI" sz="1200" dirty="0"/>
              <a:t>) – roji z različnimi posledičnimi deli morajo biti ločeni</a:t>
            </a:r>
          </a:p>
          <a:p>
            <a:r>
              <a:rPr lang="sl-SI" sz="1200" dirty="0"/>
              <a:t>Pokritost (c</a:t>
            </a:r>
            <a:r>
              <a:rPr lang="en-US" sz="1200" dirty="0"/>
              <a:t>overage</a:t>
            </a:r>
            <a:r>
              <a:rPr lang="sl-SI" sz="1200" dirty="0"/>
              <a:t>)</a:t>
            </a:r>
            <a:r>
              <a:rPr lang="en-US" sz="1200" dirty="0"/>
              <a:t> </a:t>
            </a:r>
            <a:r>
              <a:rPr lang="sl-SI" sz="1200" dirty="0"/>
              <a:t>in popolnost modela (</a:t>
            </a:r>
            <a:r>
              <a:rPr lang="en-US" sz="1200" dirty="0"/>
              <a:t>completeness</a:t>
            </a:r>
            <a:r>
              <a:rPr lang="sl-SI" sz="1200" dirty="0"/>
              <a:t>) - celoten prostor naj bi bil pokrit z roji </a:t>
            </a:r>
          </a:p>
          <a:p>
            <a:r>
              <a:rPr lang="sl-SI" sz="1200" dirty="0" err="1"/>
              <a:t>Interpretabilnost</a:t>
            </a:r>
            <a:r>
              <a:rPr lang="sl-SI" sz="1200" dirty="0"/>
              <a:t> posledičnega dela</a:t>
            </a:r>
          </a:p>
          <a:p>
            <a:r>
              <a:rPr lang="sl-SI" sz="1200" dirty="0"/>
              <a:t>Pomembnost </a:t>
            </a:r>
            <a:r>
              <a:rPr lang="sl-SI" sz="1200" dirty="0" err="1"/>
              <a:t>značilk</a:t>
            </a:r>
            <a:endParaRPr lang="sl-SI" sz="1200" dirty="0"/>
          </a:p>
          <a:p>
            <a:r>
              <a:rPr lang="sl-SI" sz="1200" dirty="0"/>
              <a:t>Pomembnost pravil </a:t>
            </a:r>
          </a:p>
          <a:p>
            <a:endParaRPr lang="sl-SI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20528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Dejanska porazdelitev podatkov se lahko zelo razlikuje od </a:t>
            </a:r>
            <a:r>
              <a:rPr lang="sl-SI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pripadnostnih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funkciji. </a:t>
            </a:r>
          </a:p>
          <a:p>
            <a:endParaRPr lang="sl-SI" sz="12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[9] Porto, A.,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[46] Angelov, P., &amp;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[9] Porto, A.,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Dovzan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(2020). Fuzzy Space Partitioning Based on Hyperplanes Defined by Eigenvectors for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 Identification. IEEE Transactions on Industrial Electronics, 67(6), 5144–5153.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4315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 err="1"/>
              <a:t>incremental</a:t>
            </a:r>
            <a:r>
              <a:rPr lang="sl-SI" sz="1800" dirty="0"/>
              <a:t> </a:t>
            </a:r>
            <a:r>
              <a:rPr lang="sl-SI" sz="1800" dirty="0" err="1"/>
              <a:t>fuzzy</a:t>
            </a:r>
            <a:r>
              <a:rPr lang="sl-SI" sz="1800" dirty="0"/>
              <a:t> C-</a:t>
            </a:r>
            <a:r>
              <a:rPr lang="sl-SI" sz="1800" dirty="0" err="1"/>
              <a:t>regression</a:t>
            </a:r>
            <a:r>
              <a:rPr lang="sl-SI" sz="1800" dirty="0"/>
              <a:t> </a:t>
            </a:r>
            <a:r>
              <a:rPr lang="sl-SI" sz="1800" dirty="0" err="1"/>
              <a:t>clustering</a:t>
            </a:r>
            <a:r>
              <a:rPr lang="sl-SI" sz="1800" dirty="0"/>
              <a:t> -&gt;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parameters of the consequent part are the prototypes used in clustering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Hyperplane parameters can be shared between in the premise and consequent part of the locally linear models.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r>
              <a:rPr lang="sl-SI" sz="1200" dirty="0" err="1"/>
              <a:t>Subtractive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r>
              <a:rPr lang="sl-SI" sz="1200" dirty="0"/>
              <a:t>  a </a:t>
            </a:r>
            <a:r>
              <a:rPr lang="sl-SI" sz="1200" dirty="0" err="1"/>
              <a:t>version</a:t>
            </a:r>
            <a:r>
              <a:rPr lang="sl-SI" sz="1200" dirty="0"/>
              <a:t> </a:t>
            </a:r>
            <a:r>
              <a:rPr lang="sl-SI" sz="1200" dirty="0" err="1"/>
              <a:t>of</a:t>
            </a:r>
            <a:r>
              <a:rPr lang="sl-SI" sz="1200" dirty="0"/>
              <a:t> </a:t>
            </a:r>
            <a:r>
              <a:rPr lang="sl-SI" sz="1200" dirty="0" err="1"/>
              <a:t>mountain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endParaRPr lang="sl-SI" sz="1200" dirty="0"/>
          </a:p>
          <a:p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 refers to the long-term solution convergence and Plasticity to the dynamic concept change handling [12, 49]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[46] Angelov, P., &amp;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(2011). Recursive clustering based on a Gustafson-Kessel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algorithm. Evolving Systems, 2(1), 15–24.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[14] Soleimani-B, H., Lucas, C.,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[31]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Mušič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Blažič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[8] D.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Škrjanc, and F.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“An overview on evolving systems and learning from stream data,” Evolving Systems, vol. 11, no. 2, pp. 181–198, Jun. 2020.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51862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Mušič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Blažič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06511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Rule merging is not the same as fuzzy set merging [12] as multiple fuzzy sets can be associated with a rule depending on the formulation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77113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[14] Soleimani-B, H., Lucas, C.,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[17] E. Lima, M. Hell, R.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Ballini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Evolving fuzzy modeling using participatory learning, in: P.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Kasabov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(Eds.),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EvolvingIntelligent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Systems: Methodology and Applications, John Wiley &amp; Sons, New York, 2010, pp. 67–86.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[19]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(2021). Evolving Fuzzy Model Identification of Nonlinear Wiener-Hammerstein Processes. IEEE Access, 9, 158470–158480.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Bouchot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J. L., &amp; Shaker, A. (2011). On-line elimination of local redundancies in evolving fuzzy systems. Evolving Systems, 2(3), 165–187.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27995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2800" dirty="0"/>
              <a:t>[56]Pratama, M., </a:t>
            </a:r>
            <a:r>
              <a:rPr lang="sl-SI" sz="2800" dirty="0" err="1"/>
              <a:t>Anavatti</a:t>
            </a:r>
            <a:r>
              <a:rPr lang="sl-SI" sz="2800" dirty="0"/>
              <a:t>, S. G., &amp; </a:t>
            </a:r>
            <a:r>
              <a:rPr lang="sl-SI" sz="2800" dirty="0" err="1"/>
              <a:t>Lughofer</a:t>
            </a:r>
            <a:r>
              <a:rPr lang="sl-SI" sz="2800" dirty="0"/>
              <a:t>, E. (2014). </a:t>
            </a:r>
            <a:r>
              <a:rPr lang="sl-SI" sz="2800" dirty="0" err="1"/>
              <a:t>Genefis</a:t>
            </a:r>
            <a:r>
              <a:rPr lang="sl-SI" sz="2800" dirty="0"/>
              <a:t>: </a:t>
            </a:r>
            <a:r>
              <a:rPr lang="sl-SI" sz="2800" dirty="0" err="1"/>
              <a:t>Toward</a:t>
            </a:r>
            <a:r>
              <a:rPr lang="sl-SI" sz="2800" dirty="0"/>
              <a:t> </a:t>
            </a:r>
            <a:r>
              <a:rPr lang="sl-SI" sz="2800" dirty="0" err="1"/>
              <a:t>an</a:t>
            </a:r>
            <a:r>
              <a:rPr lang="sl-SI" sz="2800" dirty="0"/>
              <a:t> </a:t>
            </a:r>
            <a:r>
              <a:rPr lang="sl-SI" sz="2800" dirty="0" err="1"/>
              <a:t>effective</a:t>
            </a:r>
            <a:r>
              <a:rPr lang="sl-SI" sz="2800" dirty="0"/>
              <a:t> </a:t>
            </a:r>
            <a:r>
              <a:rPr lang="sl-SI" sz="2800" dirty="0" err="1"/>
              <a:t>localist</a:t>
            </a:r>
            <a:r>
              <a:rPr lang="sl-SI" sz="2800" dirty="0"/>
              <a:t> </a:t>
            </a:r>
            <a:r>
              <a:rPr lang="sl-SI" sz="2800" dirty="0" err="1"/>
              <a:t>network</a:t>
            </a:r>
            <a:r>
              <a:rPr lang="sl-SI" sz="2800" dirty="0"/>
              <a:t>. </a:t>
            </a:r>
            <a:r>
              <a:rPr lang="sl-SI" sz="2800" i="1" dirty="0"/>
              <a:t>IEEE </a:t>
            </a:r>
            <a:r>
              <a:rPr lang="sl-SI" sz="2800" i="1" dirty="0" err="1"/>
              <a:t>Transactions</a:t>
            </a:r>
            <a:r>
              <a:rPr lang="sl-SI" sz="2800" i="1" dirty="0"/>
              <a:t> on </a:t>
            </a:r>
            <a:r>
              <a:rPr lang="sl-SI" sz="2800" i="1" dirty="0" err="1"/>
              <a:t>Fuzzy</a:t>
            </a:r>
            <a:r>
              <a:rPr lang="sl-SI" sz="2800" i="1" dirty="0"/>
              <a:t> </a:t>
            </a:r>
            <a:r>
              <a:rPr lang="sl-SI" sz="2800" i="1" dirty="0" err="1"/>
              <a:t>Systems</a:t>
            </a:r>
            <a:r>
              <a:rPr lang="sl-SI" sz="2800" dirty="0"/>
              <a:t>, </a:t>
            </a:r>
            <a:r>
              <a:rPr lang="sl-SI" sz="2800" i="1" dirty="0"/>
              <a:t>22</a:t>
            </a:r>
            <a:r>
              <a:rPr lang="sl-SI" sz="2800" dirty="0"/>
              <a:t>(3), 547–562. https://doi.org/10.1109/TFUZZ.2013.2264938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97874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65018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73788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[48]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[22] Rong, H. J., Sundararajan, N., Huang, G. bin,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Saratchandran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(2006). Sequential Adaptive Fuzzy Inference System (SAFIS) for nonlinear system identification and prediction. Fuzzy Sets and Systems, 157(9), 1260–1275.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Andonovski, G., Mušič, G., Blažič,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28366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auxiliary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– Replacing an unmeasurable variable (like the noise) in the regressor/information matrix by using an estimation of the variable instead of the real value.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Hierhical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principle – decomposes the system into multiple where multiple regressors are used in every optimization. ( used to identify multivariable systems or noise transfer functions).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both approaches an unknown variable can be optimized in one optimization, used to estimate another regression variable and finally used in another optimization.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instrumental variables – the output of the system is replaced by the model prediction (both are present)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Correntropy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 a Mercer's kernel (usually Gaussian) of the error values in the optimization criteria function used to lower the effect of outlier samples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[47]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Nelles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O. (2001). Nonlinear System Identification. Nonlinear System Identification.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[47]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(2021).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recursive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consequent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neuro-fuzzy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545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555–574.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[55]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 J.,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H. J., Angelov, P. P.,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P. K. (2018).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Correntropy-Based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1324–1338.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31266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200" dirty="0"/>
              <a:t>Ansambel/skupina (</a:t>
            </a:r>
            <a:r>
              <a:rPr lang="sl-SI" sz="1200" dirty="0" err="1"/>
              <a:t>Ensamble</a:t>
            </a:r>
            <a:r>
              <a:rPr lang="sl-SI" sz="1200" dirty="0"/>
              <a:t> </a:t>
            </a:r>
            <a:r>
              <a:rPr lang="sl-SI" sz="1200" dirty="0" err="1"/>
              <a:t>learning</a:t>
            </a:r>
            <a:r>
              <a:rPr lang="sl-SI" sz="1200" dirty="0"/>
              <a:t>) modelov je sestavljena iz več različnih </a:t>
            </a:r>
            <a:r>
              <a:rPr lang="sl-SI" sz="1200" dirty="0" err="1"/>
              <a:t>samorazvijajočih</a:t>
            </a:r>
            <a:r>
              <a:rPr lang="sl-SI" sz="1200" dirty="0"/>
              <a:t> se modelov, ki jih paralelno učimo na istem problemu z različnimi parametri </a:t>
            </a:r>
            <a:r>
              <a:rPr lang="en-US" sz="1200" dirty="0"/>
              <a:t>[10, 48]</a:t>
            </a:r>
            <a:r>
              <a:rPr lang="sl-SI" sz="1200" dirty="0"/>
              <a:t>. Posamezni </a:t>
            </a:r>
            <a:r>
              <a:rPr lang="sl-SI" sz="1200" dirty="0" err="1"/>
              <a:t>samorazvijajoči</a:t>
            </a:r>
            <a:r>
              <a:rPr lang="sl-SI" sz="1200" dirty="0"/>
              <a:t> se modeli v ansamblu se lahko razlikujejo po strukturi, številu parametrov, različnih omejitvah, </a:t>
            </a:r>
            <a:r>
              <a:rPr lang="sl-SI" sz="1200" dirty="0" err="1"/>
              <a:t>kriterijski</a:t>
            </a:r>
            <a:r>
              <a:rPr lang="sl-SI" sz="1200" dirty="0"/>
              <a:t> funkciji ali celo tipu modela.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Extreme Learning Machines (ELMs) (2009) </a:t>
            </a:r>
            <a:r>
              <a:rPr lang="sl-SI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(naključna inicializacija parametrov in strukture)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200" dirty="0"/>
              <a:t>Ansambli </a:t>
            </a:r>
            <a:r>
              <a:rPr lang="sl-SI" sz="1200" dirty="0" err="1"/>
              <a:t>samorazvijajočih</a:t>
            </a:r>
            <a:r>
              <a:rPr lang="sl-SI" sz="1200" dirty="0"/>
              <a:t> se modelov v obliki omrežja [44].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[44] Gu, X. (2021). Multilayer Ensemble Evolving Fuzzy Inference System.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(8), 2425–2431.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[48]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86975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l-SI" sz="2800" dirty="0"/>
              <a:t>[27] Škrjanc, I., Iglesias, J., </a:t>
            </a:r>
            <a:r>
              <a:rPr lang="sl-SI" sz="2800" dirty="0" err="1"/>
              <a:t>Sanchis</a:t>
            </a:r>
            <a:r>
              <a:rPr lang="sl-SI" sz="2800" dirty="0"/>
              <a:t>, A., </a:t>
            </a:r>
            <a:r>
              <a:rPr lang="sl-SI" sz="2800" dirty="0" err="1"/>
              <a:t>Leite</a:t>
            </a:r>
            <a:r>
              <a:rPr lang="sl-SI" sz="2800" dirty="0"/>
              <a:t>, D., </a:t>
            </a:r>
            <a:r>
              <a:rPr lang="sl-SI" sz="2800" dirty="0" err="1"/>
              <a:t>Lughofer</a:t>
            </a:r>
            <a:r>
              <a:rPr lang="sl-SI" sz="2800" dirty="0"/>
              <a:t>, E., &amp; </a:t>
            </a:r>
            <a:r>
              <a:rPr lang="sl-SI" sz="2800" dirty="0" err="1"/>
              <a:t>Gomide</a:t>
            </a:r>
            <a:r>
              <a:rPr lang="sl-SI" sz="2800" dirty="0"/>
              <a:t>, F. (2019). </a:t>
            </a:r>
            <a:r>
              <a:rPr lang="sl-SI" sz="2800" dirty="0" err="1"/>
              <a:t>Evolving</a:t>
            </a:r>
            <a:r>
              <a:rPr lang="sl-SI" sz="2800" dirty="0"/>
              <a:t> </a:t>
            </a:r>
            <a:r>
              <a:rPr lang="sl-SI" sz="2800" dirty="0" err="1"/>
              <a:t>fuzzy</a:t>
            </a:r>
            <a:r>
              <a:rPr lang="sl-SI" sz="2800" dirty="0"/>
              <a:t> </a:t>
            </a:r>
            <a:r>
              <a:rPr lang="sl-SI" sz="2800" dirty="0" err="1"/>
              <a:t>and</a:t>
            </a:r>
            <a:r>
              <a:rPr lang="sl-SI" sz="2800" dirty="0"/>
              <a:t> </a:t>
            </a:r>
            <a:r>
              <a:rPr lang="sl-SI" sz="2800" dirty="0" err="1"/>
              <a:t>neuro-fuzzy</a:t>
            </a:r>
            <a:r>
              <a:rPr lang="sl-SI" sz="2800" dirty="0"/>
              <a:t> </a:t>
            </a:r>
            <a:r>
              <a:rPr lang="sl-SI" sz="2800" dirty="0" err="1"/>
              <a:t>approaches</a:t>
            </a:r>
            <a:r>
              <a:rPr lang="sl-SI" sz="2800" dirty="0"/>
              <a:t> in </a:t>
            </a:r>
            <a:r>
              <a:rPr lang="sl-SI" sz="2800" dirty="0" err="1"/>
              <a:t>clustering</a:t>
            </a:r>
            <a:r>
              <a:rPr lang="sl-SI" sz="2800" dirty="0"/>
              <a:t>, </a:t>
            </a:r>
            <a:r>
              <a:rPr lang="sl-SI" sz="2800" dirty="0" err="1"/>
              <a:t>regression</a:t>
            </a:r>
            <a:r>
              <a:rPr lang="sl-SI" sz="2800" dirty="0"/>
              <a:t>, </a:t>
            </a:r>
            <a:r>
              <a:rPr lang="sl-SI" sz="2800" dirty="0" err="1"/>
              <a:t>identification</a:t>
            </a:r>
            <a:r>
              <a:rPr lang="sl-SI" sz="2800" dirty="0"/>
              <a:t>, </a:t>
            </a:r>
            <a:r>
              <a:rPr lang="sl-SI" sz="2800" dirty="0" err="1"/>
              <a:t>and</a:t>
            </a:r>
            <a:r>
              <a:rPr lang="sl-SI" sz="2800" dirty="0"/>
              <a:t> </a:t>
            </a:r>
            <a:r>
              <a:rPr lang="sl-SI" sz="2800" dirty="0" err="1"/>
              <a:t>classification</a:t>
            </a:r>
            <a:r>
              <a:rPr lang="sl-SI" sz="2800" dirty="0"/>
              <a:t>: A </a:t>
            </a:r>
            <a:r>
              <a:rPr lang="sl-SI" sz="2800" dirty="0" err="1"/>
              <a:t>Survey</a:t>
            </a:r>
            <a:r>
              <a:rPr lang="sl-SI" sz="2800" dirty="0"/>
              <a:t>. </a:t>
            </a:r>
            <a:r>
              <a:rPr lang="sl-SI" sz="2800" i="1" dirty="0" err="1"/>
              <a:t>Information</a:t>
            </a:r>
            <a:r>
              <a:rPr lang="sl-SI" sz="2800" i="1" dirty="0"/>
              <a:t> </a:t>
            </a:r>
            <a:r>
              <a:rPr lang="sl-SI" sz="2800" i="1" dirty="0" err="1"/>
              <a:t>Sciences</a:t>
            </a:r>
            <a:r>
              <a:rPr lang="sl-SI" sz="2800" dirty="0"/>
              <a:t>, </a:t>
            </a:r>
            <a:r>
              <a:rPr lang="sl-SI" sz="2800" i="1" dirty="0"/>
              <a:t>490</a:t>
            </a:r>
            <a:r>
              <a:rPr lang="sl-SI" sz="2800" dirty="0"/>
              <a:t>, 344–368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60463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17614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448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31451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32CD49-A233-4197-9AA3-6F2AB6512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EFFF0B7-57F6-4F12-9710-DE0DCE1DF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F1F9E85-9961-4609-9BFB-8E81321A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CCEB-6994-4547-95E9-063D0DFE2005}" type="datetime1">
              <a:rPr lang="sl-SI" smtClean="0"/>
              <a:t>14. 04. 2022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FFD832F-05F7-4F5D-8838-FF49008C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5CF10D5-A40D-40CB-B935-71EB263D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457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287F75-838B-4F3A-ABD5-BC12A25C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890AA8-DD34-4B84-BC74-2EF1BA1CF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94F650C-4371-4B51-BC6E-7E4A2034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5674E-E745-4B5A-B361-1FBB3F2C0E25}" type="datetime1">
              <a:rPr lang="sl-SI" smtClean="0"/>
              <a:t>14. 04. 2022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2374A62-E0F6-4E52-BA93-66726F3A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F5B07B0-9E52-4767-9ED9-BE1955BC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337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2EAFEA-32E3-4E21-A6BA-94F17404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E80980C-8223-4387-BC60-5561F9C32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EB24716-8269-452E-B6CE-4C121479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BA14-1BEC-4C69-8669-987D3BB86C80}" type="datetime1">
              <a:rPr lang="sl-SI" smtClean="0"/>
              <a:t>14. 04. 2022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9B36C37-3780-48D7-AC60-CABD24E0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753B6270-15A5-435C-BB13-75D3B2C7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998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1E56ED-D773-4286-BBC8-F2C69EB9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A69B248-9A4B-42B3-B12F-E708D215E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48D702F-F820-45FA-A321-19061AAAF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E0E081EC-9D76-4904-AE2D-2ADB389E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0069-D9D2-4691-9326-92279138C27E}" type="datetime1">
              <a:rPr lang="sl-SI" smtClean="0"/>
              <a:t>14. 04. 2022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174BB75E-5FC8-4FA1-9861-C9DFB75B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CC7E6800-D8E2-46BE-85E6-E73C7549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727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A8C428-A5CE-4DB7-A690-CB1AF51D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7D4574F-5753-4479-9F72-DC3E5A950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E6ECDF5F-854A-4191-BADA-CFDD05FEC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BA781ADF-0146-4A92-A08D-81F2CA798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DD32BB10-E956-4ABA-AF93-97659B16E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4F4F1853-F755-49FE-92C7-C05E9466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7B458-7746-4E38-93C9-2364CA79D665}" type="datetime1">
              <a:rPr lang="sl-SI" smtClean="0"/>
              <a:t>14. 04. 2022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45CA5D85-20D5-4074-A482-37B2F07B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86356C8D-D158-4325-A11A-D6EEC47F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4536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4942510-358D-421D-B330-A4C3D2E8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826CCB1F-4755-4B16-9470-ACBAEAEA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D3AD-843C-4BBB-AEB5-3F8774D112B4}" type="datetime1">
              <a:rPr lang="sl-SI" smtClean="0"/>
              <a:t>14. 04. 2022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C3E58E3C-0FDD-4E57-9654-BA584CD9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537F0580-4F5C-49F4-A7AB-B2F1C77E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688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EC37822A-CF93-4C0A-AFD8-E1F34B86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EC7B-5D5C-4311-93D6-61421A96773A}" type="datetime1">
              <a:rPr lang="sl-SI" smtClean="0"/>
              <a:t>14. 04. 2022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5AB7FED-11B6-4E83-8612-97305C21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632E7EF-5D28-4FAA-B528-4F18FD67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1770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A6EFB5-D777-400A-BE26-2C9492C7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9AAB80C-68F0-40AE-8673-2368356D3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E14CFEEB-A9F2-45A4-9158-ACEE4B85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01F79932-998F-4C26-B4D5-F1420CD5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4E2CC-5107-4577-BC25-41FA1918EE4A}" type="datetime1">
              <a:rPr lang="sl-SI" smtClean="0"/>
              <a:t>14. 04. 2022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47FB5AB7-4EC9-4C8D-A4CA-83CBC977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05E9AF04-21F2-418B-8205-B54E251D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305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240E261-29E2-44DE-8A7F-A26D2822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97383E1B-2DF1-43CE-85FA-60BA34A95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AC8C094A-31C6-4FFC-B2A4-54C57684D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9A7224F3-3A89-473C-8728-F03FE623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7BA9-EF28-4817-A53F-50ECE5AC9F09}" type="datetime1">
              <a:rPr lang="sl-SI" smtClean="0"/>
              <a:t>14. 04. 2022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4C0DBE8-A3FB-446D-AF4C-43E333D5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F6A2C9F2-BE80-4516-B2E8-B9B6E19A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0774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DB849C1-5B3B-4800-B0C9-E43746B0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A1835D80-44AD-4672-BA84-4FFFEE6A2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AA05B76-4E57-4AD6-ADD3-07BADEE4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F640-D33E-4F67-9EAB-E94BCE00F3FC}" type="datetime1">
              <a:rPr lang="sl-SI" smtClean="0"/>
              <a:t>14. 04. 2022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5F1722D-4F59-4990-84FD-062757C1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97042A2-3CAB-44CA-B016-F969EA85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0737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F80D2B4E-3F88-4F5B-86B4-E1D40B14D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82353E9-1BA0-4314-98BE-D9C63D13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2A5E5B7-3633-4892-8DCA-D01BDF0E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5167-1F5A-475D-9616-850BB40C41DC}" type="datetime1">
              <a:rPr lang="sl-SI" smtClean="0"/>
              <a:t>14. 04. 2022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A282688-7701-40C0-9807-627A2503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1F78D97-010D-420D-B3A9-B035333F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9447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D8F8CC49-1378-4F3F-B59D-1A69A654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66EA9CE-2B8E-4475-A578-66DC54FE9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1FCBD9E-58FE-4905-AA34-81D3197EB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62519-ECC3-4463-A116-565D4AEA2FEE}" type="datetime1">
              <a:rPr lang="sl-SI" smtClean="0"/>
              <a:t>14. 04. 2022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EF538BB-7C00-44E6-9380-47D84ACD9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37BE936-F085-4911-AC60-7BE063243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141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F96E047F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C901B68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18/10/relationships/comments" Target="../comments/modernComment_110_FAD9860D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18/10/relationships/comments" Target="../comments/modernComment_111_C1265F66.xm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microsoft.com/office/2018/10/relationships/comments" Target="../comments/modernComment_115_69ED7051.xml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18/10/relationships/comments" Target="../comments/modernComment_117_A9D910F1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microsoft.com/office/2018/10/relationships/comments" Target="../comments/modernComment_116_CE50F583.xm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E14051A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9A12B3C3.xml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E8B4A55E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3451E80B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2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0.PNG"/><Relationship Id="rId10" Type="http://schemas.openxmlformats.org/officeDocument/2006/relationships/image" Target="../media/image64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dnaslov 2">
            <a:extLst>
              <a:ext uri="{FF2B5EF4-FFF2-40B4-BE49-F238E27FC236}">
                <a16:creationId xmlns:a16="http://schemas.microsoft.com/office/drawing/2014/main" id="{454E3BB4-99D4-4D73-914D-9E311F546EFE}"/>
              </a:ext>
            </a:extLst>
          </p:cNvPr>
          <p:cNvSpPr txBox="1">
            <a:spLocks/>
          </p:cNvSpPr>
          <p:nvPr/>
        </p:nvSpPr>
        <p:spPr>
          <a:xfrm>
            <a:off x="2895536" y="4547323"/>
            <a:ext cx="6400925" cy="91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l-SI" sz="2000" dirty="0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E82744B7-692C-4BF4-9CDE-E39040EB63DB}"/>
              </a:ext>
            </a:extLst>
          </p:cNvPr>
          <p:cNvSpPr txBox="1"/>
          <p:nvPr/>
        </p:nvSpPr>
        <p:spPr>
          <a:xfrm>
            <a:off x="741616" y="5304935"/>
            <a:ext cx="215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7"/>
              </a:rPr>
              <a:t>Miha O</a:t>
            </a:r>
            <a:r>
              <a:rPr lang="en-US" sz="2000" dirty="0">
                <a:latin typeface="CMR17"/>
              </a:rPr>
              <a:t>ž</a:t>
            </a:r>
            <a:r>
              <a:rPr lang="sl-SI" sz="2000" b="0" i="0" u="none" strike="noStrike" baseline="0" dirty="0" err="1">
                <a:latin typeface="CMR17"/>
              </a:rPr>
              <a:t>bot</a:t>
            </a:r>
            <a:endParaRPr lang="sl-SI" sz="2000" dirty="0"/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C6D9A6BD-2F85-4AC9-8AA3-AFA6C58DCEBF}"/>
              </a:ext>
            </a:extLst>
          </p:cNvPr>
          <p:cNvSpPr txBox="1"/>
          <p:nvPr/>
        </p:nvSpPr>
        <p:spPr>
          <a:xfrm>
            <a:off x="741616" y="5823762"/>
            <a:ext cx="5648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2"/>
              </a:rPr>
              <a:t>Mentor: prof. dr. Igor </a:t>
            </a:r>
            <a:r>
              <a:rPr lang="en-US" sz="2000" dirty="0">
                <a:latin typeface="CMR12"/>
              </a:rPr>
              <a:t>Š</a:t>
            </a:r>
            <a:r>
              <a:rPr lang="sl-SI" sz="2000" b="0" i="0" u="none" strike="noStrike" baseline="0" dirty="0" err="1">
                <a:latin typeface="CMR12"/>
              </a:rPr>
              <a:t>krjanc</a:t>
            </a:r>
            <a:r>
              <a:rPr lang="sl-SI" sz="2000" b="0" i="0" u="none" strike="noStrike" baseline="0" dirty="0">
                <a:latin typeface="CMR12"/>
              </a:rPr>
              <a:t>, univ. dipl. In</a:t>
            </a:r>
            <a:r>
              <a:rPr lang="en-US" sz="2000" dirty="0">
                <a:latin typeface="CMR12"/>
              </a:rPr>
              <a:t>ž.</a:t>
            </a:r>
            <a:r>
              <a:rPr lang="sl-SI" sz="2000" b="0" i="0" u="none" strike="noStrike" baseline="0" dirty="0">
                <a:latin typeface="CMR12"/>
              </a:rPr>
              <a:t> el.</a:t>
            </a:r>
            <a:endParaRPr lang="sl-SI" sz="2000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A74E07DE-D6ED-4615-9AC8-958D66DC10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611" y="445641"/>
            <a:ext cx="2180053" cy="1877765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6DA218C9-C330-4154-AE98-7F01B3DE7357}"/>
              </a:ext>
            </a:extLst>
          </p:cNvPr>
          <p:cNvSpPr txBox="1"/>
          <p:nvPr/>
        </p:nvSpPr>
        <p:spPr>
          <a:xfrm>
            <a:off x="9113179" y="5823762"/>
            <a:ext cx="298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MR12"/>
              </a:rPr>
              <a:t>Ljubljana, </a:t>
            </a:r>
            <a:r>
              <a:rPr lang="sl-SI" sz="2000" dirty="0">
                <a:latin typeface="CMR12"/>
              </a:rPr>
              <a:t>14. april </a:t>
            </a:r>
            <a:r>
              <a:rPr lang="en-US" sz="2000" dirty="0">
                <a:latin typeface="CMR12"/>
              </a:rPr>
              <a:t>202</a:t>
            </a:r>
            <a:r>
              <a:rPr lang="sl-SI" sz="2000" dirty="0">
                <a:latin typeface="CMR12"/>
              </a:rPr>
              <a:t>2</a:t>
            </a:r>
            <a:endParaRPr lang="sl-SI" sz="2000" dirty="0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1708218-1CC5-4DF6-926B-EA887227088E}"/>
              </a:ext>
            </a:extLst>
          </p:cNvPr>
          <p:cNvSpPr txBox="1"/>
          <p:nvPr/>
        </p:nvSpPr>
        <p:spPr>
          <a:xfrm>
            <a:off x="1053771" y="2555841"/>
            <a:ext cx="1067173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l-SI" sz="48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4800" dirty="0">
                <a:effectLst/>
                <a:latin typeface="+mj-lt"/>
                <a:ea typeface="Calibri" panose="020F0502020204030204" pitchFamily="34" charset="0"/>
              </a:rPr>
              <a:t> se sistemi na podlagi toka podatkov v modeliranju in vodenju</a:t>
            </a:r>
          </a:p>
          <a:p>
            <a:pPr algn="ctr"/>
            <a:br>
              <a:rPr lang="sl-SI" dirty="0"/>
            </a:br>
            <a:r>
              <a:rPr lang="sl-SI" sz="2000" dirty="0"/>
              <a:t>Seminarska naloga 1</a:t>
            </a:r>
            <a:endParaRPr lang="sl-SI" dirty="0"/>
          </a:p>
        </p:txBody>
      </p:sp>
      <p:pic>
        <p:nvPicPr>
          <p:cNvPr id="15" name="Slika 14">
            <a:extLst>
              <a:ext uri="{FF2B5EF4-FFF2-40B4-BE49-F238E27FC236}">
                <a16:creationId xmlns:a16="http://schemas.microsoft.com/office/drawing/2014/main" id="{AC4A757F-79FE-4EAF-B0B9-7FF991223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8" name="Rectangle 12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136DCA3-1C99-4E16-B8D6-3B1003181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000">
                <a:effectLst/>
                <a:latin typeface="+mj-lt"/>
                <a:ea typeface="Calibri" panose="020F0502020204030204" pitchFamily="34" charset="0"/>
              </a:rPr>
              <a:t>Samorazvijajoči se (inteligentni) sistemi</a:t>
            </a:r>
            <a:endParaRPr lang="sl-SI" sz="5000"/>
          </a:p>
        </p:txBody>
      </p:sp>
      <p:sp>
        <p:nvSpPr>
          <p:cNvPr id="12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značba mesta vsebine 2">
            <a:extLst>
              <a:ext uri="{FF2B5EF4-FFF2-40B4-BE49-F238E27FC236}">
                <a16:creationId xmlns:a16="http://schemas.microsoft.com/office/drawing/2014/main" id="{E0BEF5DF-8F40-4BAD-97E9-BA7D1BA9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b="1" dirty="0" err="1">
                <a:effectLst/>
                <a:ea typeface="Calibri" panose="020F0502020204030204" pitchFamily="34" charset="0"/>
              </a:rPr>
              <a:t>Samorazvijajoči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 se (</a:t>
            </a:r>
            <a:r>
              <a:rPr lang="sl-SI" sz="1800" b="1" dirty="0"/>
              <a:t>inteligentni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) sistemi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evolving </a:t>
            </a:r>
            <a:r>
              <a:rPr lang="sl-SI" sz="1800" i="1" dirty="0"/>
              <a:t>inteligent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adaptirajo 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tako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svoje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parametre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kot tudi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strukturo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enkratnim prehodom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čez podatke 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single-pass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in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 realnem času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 time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].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Okolje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v katerem gradimo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model, je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nezanano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model je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zgrajen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brez a priori informacij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(središča rojev, števila pravil itd.).</a:t>
            </a:r>
            <a:endParaRPr lang="sl-SI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Strukturo lahko sestavljajo: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mehka pravila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rules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[1,3],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informacijske granule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granules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[4,5],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[6], </a:t>
            </a:r>
            <a:r>
              <a:rPr lang="sl-SI" sz="1800" b="1" dirty="0"/>
              <a:t>odločitvena</a:t>
            </a:r>
            <a:r>
              <a:rPr lang="sl-SI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drevesa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[7],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intervalni modeli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idr.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 strukture so uporabljene zaradi večje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transparentnosti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lingvistične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interpretabilnosti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od drugih modelov črne škatle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black-box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[6]. </a:t>
            </a:r>
          </a:p>
          <a:p>
            <a:pPr>
              <a:spcAft>
                <a:spcPts val="800"/>
              </a:spcAft>
            </a:pP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38EB6AD1-FCB2-43A6-AD58-F89A152F9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78C075-9F0E-4B74-A73C-6BBE2DF0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2</a:t>
            </a:fld>
            <a:endParaRPr lang="sl-S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5F910-92AB-4FEF-8283-1ED6658F7DBE}"/>
              </a:ext>
            </a:extLst>
          </p:cNvPr>
          <p:cNvSpPr txBox="1"/>
          <p:nvPr/>
        </p:nvSpPr>
        <p:spPr>
          <a:xfrm>
            <a:off x="313044" y="5521146"/>
            <a:ext cx="10618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[1]Angelov, P.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 P. (2004). An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to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Online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Identification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Takagi-Sugeno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Man,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Cybernetics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Part B: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Cybernetics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34(1), 484–498.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[3] Dovžan, D., Logar, V., &amp; Škrjanc, I. (2015).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Implementation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Model (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) in a Monitoring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Waste-Water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Treatment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23(5), 1761–1776.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[4]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Andonovski, G.,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Optimal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rule-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based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28(3), 583–596.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[5]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Lecture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Notes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Computer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Science (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Including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Subseries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Lecture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Notes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Artificial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Intelligence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Lecture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Notes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Bioinformatics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), 6178 LNAI, 340–349.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[6]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(2020). An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overview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11(2), 181–198.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[7]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Lemos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A.,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Caminhas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W.,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linear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regression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trees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2010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World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Congress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Computational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Intelligence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WCCI 2010. </a:t>
            </a:r>
          </a:p>
        </p:txBody>
      </p:sp>
    </p:spTree>
    <p:extLst>
      <p:ext uri="{BB962C8B-B14F-4D97-AF65-F5344CB8AC3E}">
        <p14:creationId xmlns:p14="http://schemas.microsoft.com/office/powerpoint/2010/main" val="390439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028B34C-71DF-4C39-AB40-22F05570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000">
                <a:effectLst/>
                <a:latin typeface="+mj-lt"/>
                <a:ea typeface="Calibri" panose="020F0502020204030204" pitchFamily="34" charset="0"/>
              </a:rPr>
              <a:t>Samorazvijajoči se (inteligentni) sistemi</a:t>
            </a:r>
            <a:endParaRPr lang="sl-SI" sz="5000"/>
          </a:p>
        </p:txBody>
      </p:sp>
      <p:sp>
        <p:nvSpPr>
          <p:cNvPr id="16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značba mesta vsebine 2">
            <a:extLst>
              <a:ext uri="{FF2B5EF4-FFF2-40B4-BE49-F238E27FC236}">
                <a16:creationId xmlns:a16="http://schemas.microsoft.com/office/drawing/2014/main" id="{B8D13A2C-0815-46E8-A56B-723192390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odeliranje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sklepanje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vodenje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napovedovanje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odkrivanje napak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fault detection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detekcija anomalij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razpoznavanje slik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recognition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[6],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podpora odločanju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 support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programski senzor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 sensor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[8],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samostojno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kalibriranje senzorjev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self-calibrating sensors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Monografije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Connectionist Systems (2007)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Intelligent System – Methodology and Applications (2010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Fuzzy Systems Methodologies, Advanced Concepts and Applications </a:t>
            </a:r>
            <a:r>
              <a:rPr lang="sl-SI" sz="1800" dirty="0"/>
              <a:t>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2011)</a:t>
            </a:r>
            <a:endParaRPr lang="sl-SI" sz="1800" dirty="0"/>
          </a:p>
        </p:txBody>
      </p:sp>
      <p:pic>
        <p:nvPicPr>
          <p:cNvPr id="6" name="Slika 4">
            <a:extLst>
              <a:ext uri="{FF2B5EF4-FFF2-40B4-BE49-F238E27FC236}">
                <a16:creationId xmlns:a16="http://schemas.microsoft.com/office/drawing/2014/main" id="{E9DBEFD9-8734-45D4-BE7D-7FBA6CD50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A32EE-BDD3-4BFE-987F-7ECA329C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3</a:t>
            </a:fld>
            <a:endParaRPr lang="sl-S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BCB694-F4D3-4289-A2F5-836A72C0514D}"/>
              </a:ext>
            </a:extLst>
          </p:cNvPr>
          <p:cNvSpPr txBox="1"/>
          <p:nvPr/>
        </p:nvSpPr>
        <p:spPr>
          <a:xfrm>
            <a:off x="296229" y="6350395"/>
            <a:ext cx="9685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[6]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F.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(2020). An overview on evolving systems and learning from stream data. Evolving Systems, 11(2), 181–198.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[8]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 (2013). On-line assurance of interpretability criteria in evolving fuzzy systems – Achievements, new concepts and open issues. Information Sciences, 251, 22–46.</a:t>
            </a:r>
          </a:p>
        </p:txBody>
      </p:sp>
    </p:spTree>
    <p:extLst>
      <p:ext uri="{BB962C8B-B14F-4D97-AF65-F5344CB8AC3E}">
        <p14:creationId xmlns:p14="http://schemas.microsoft.com/office/powerpoint/2010/main" val="123916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9" name="Rectangle 24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217D8F9-7FCF-404B-BCF5-61A08D8A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5400" dirty="0">
                <a:ea typeface="Calibri" panose="020F0502020204030204" pitchFamily="34" charset="0"/>
              </a:rPr>
              <a:t>T</a:t>
            </a:r>
            <a:r>
              <a:rPr lang="sl-SI" sz="5400" dirty="0">
                <a:effectLst/>
                <a:latin typeface="+mj-lt"/>
                <a:ea typeface="Calibri" panose="020F0502020204030204" pitchFamily="34" charset="0"/>
              </a:rPr>
              <a:t>ok podatkov</a:t>
            </a:r>
            <a:endParaRPr lang="sl-SI" sz="5400" dirty="0"/>
          </a:p>
        </p:txBody>
      </p:sp>
      <p:sp>
        <p:nvSpPr>
          <p:cNvPr id="25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značba mesta vsebine 2">
            <a:extLst>
              <a:ext uri="{FF2B5EF4-FFF2-40B4-BE49-F238E27FC236}">
                <a16:creationId xmlns:a16="http://schemas.microsoft.com/office/drawing/2014/main" id="{E5C10B8F-0F49-47BB-9E2B-012BBFAC8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Tok podatkov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</a:rPr>
              <a:t>data </a:t>
            </a:r>
            <a:r>
              <a:rPr lang="sl-SI" sz="1800" i="1" dirty="0" err="1">
                <a:effectLst/>
                <a:ea typeface="Calibri" panose="020F0502020204030204" pitchFamily="34" charset="0"/>
              </a:rPr>
              <a:t>stream</a:t>
            </a:r>
            <a:r>
              <a:rPr lang="sl-SI" sz="1800" dirty="0">
                <a:effectLst/>
                <a:ea typeface="Calibri" panose="020F0502020204030204" pitchFamily="34" charset="0"/>
              </a:rPr>
              <a:t>):</a:t>
            </a:r>
            <a:endParaRPr lang="sl-SI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 prihajajo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sprotno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online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posamično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one-</a:t>
            </a:r>
            <a:r>
              <a:rPr lang="sl-SI" sz="1800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generirajo, dokler je proces aktiven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in njihova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količina ni omejena</a:t>
            </a:r>
            <a:endParaRPr lang="sl-SI" sz="18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Lastnosti podatkov so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časovno spremenljive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so podvržene konceptualnim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lezenjem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drift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in skočnim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pomikom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shift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 so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nemudoma zavrženi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po procesiranju</a:t>
            </a:r>
          </a:p>
          <a:p>
            <a:pPr marL="342900" lvl="0" indent="-342900">
              <a:spcAft>
                <a:spcPts val="800"/>
              </a:spcAft>
              <a:buFont typeface="+mj-lt"/>
              <a:buAutoNum type="romanUcPeriod"/>
            </a:pP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Čas procesiranja podatkov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učinkovito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narašča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z velikostjo vzorcev in številom parametrov modela.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Visokofrekvenčno trgovanje,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podatkovno rudarjenje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spletna varnost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cyber security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medicinska prognoza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pametna proizvodnja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industrija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(smart </a:t>
            </a:r>
            <a:r>
              <a:rPr lang="sl-SI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industry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ogistika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socialna omrežja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internet stvari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internet 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things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[6]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[9],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[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idr.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8FDF37F-0021-4CC2-AEFF-B61E5E42F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F287F-7DFF-49DA-A6B3-51B3C477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4</a:t>
            </a:fld>
            <a:endParaRPr lang="sl-S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A7E1A-61AD-4148-8518-0D206CBD7628}"/>
              </a:ext>
            </a:extLst>
          </p:cNvPr>
          <p:cNvSpPr txBox="1"/>
          <p:nvPr/>
        </p:nvSpPr>
        <p:spPr>
          <a:xfrm>
            <a:off x="214313" y="6098983"/>
            <a:ext cx="1217066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[6]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(2020). An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overview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11(2), 181–198.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[9]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Blazic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S.,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Hybrid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identification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C-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regression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International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Conference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2020-July.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[10]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26(4), 2213–2224. </a:t>
            </a:r>
          </a:p>
        </p:txBody>
      </p:sp>
    </p:spTree>
    <p:extLst>
      <p:ext uri="{BB962C8B-B14F-4D97-AF65-F5344CB8AC3E}">
        <p14:creationId xmlns:p14="http://schemas.microsoft.com/office/powerpoint/2010/main" val="237450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3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49B5B-13E9-4F18-A7CD-424C9922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4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5400" dirty="0">
                <a:effectLst/>
                <a:latin typeface="+mj-lt"/>
                <a:ea typeface="Calibri" panose="020F0502020204030204" pitchFamily="34" charset="0"/>
              </a:rPr>
              <a:t> se mehki sistemi</a:t>
            </a:r>
            <a:endParaRPr lang="sl-SI" sz="5400" dirty="0"/>
          </a:p>
        </p:txBody>
      </p:sp>
      <p:sp>
        <p:nvSpPr>
          <p:cNvPr id="1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Slika 4">
            <a:extLst>
              <a:ext uri="{FF2B5EF4-FFF2-40B4-BE49-F238E27FC236}">
                <a16:creationId xmlns:a16="http://schemas.microsoft.com/office/drawing/2014/main" id="{3758C98A-4AE5-4C63-A403-C11C9C8A5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C2C50-D078-4A16-8314-836AB10B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5</a:t>
            </a:fld>
            <a:endParaRPr lang="sl-SI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2E0403B4-7E8A-4C65-8B7F-3EFA96F85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36" y="5735133"/>
            <a:ext cx="4854146" cy="346725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54E9ED50-A3E4-4040-8F2C-1F9E782B0B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3182" y="5678865"/>
            <a:ext cx="5595551" cy="7141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BD9D-B5F3-48BF-8D2A-ED3911753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853928" cy="3723058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Mehki model: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mehke množice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premisi,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lokalni linearni modeli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posledičnem delu.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Poglavitne naloge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samorazvijajočih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mehkih sistemov so: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natančno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funkcijsko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modeliranje z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tipa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Takagi-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-Kan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modeliranje tipa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Zadeh-Mamdani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Izhodno ostrenje je izvedeno z izračunom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 gravitacije pri lingvističnih modelih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uteženega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povprečja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weighted average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pri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funkcijskih modelih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model z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največjo aktivacijo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winner-takes-all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klasifikaciji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AE3DA9-C9DD-4E3C-8F91-4AAB9CE3EA88}"/>
              </a:ext>
            </a:extLst>
          </p:cNvPr>
          <p:cNvSpPr txBox="1"/>
          <p:nvPr/>
        </p:nvSpPr>
        <p:spPr>
          <a:xfrm>
            <a:off x="247397" y="6415067"/>
            <a:ext cx="10790276" cy="233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2A9F3-9775-4B33-A2DB-F8CB7347BA99}"/>
              </a:ext>
            </a:extLst>
          </p:cNvPr>
          <p:cNvSpPr txBox="1"/>
          <p:nvPr/>
        </p:nvSpPr>
        <p:spPr>
          <a:xfrm>
            <a:off x="11077159" y="5712526"/>
            <a:ext cx="950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1847368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047507C-C1F5-4A31-8837-38927F9C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sl-SI" sz="5400">
                <a:effectLst/>
                <a:latin typeface="+mj-lt"/>
                <a:ea typeface="Calibri" panose="020F0502020204030204" pitchFamily="34" charset="0"/>
              </a:rPr>
              <a:t>Samorazvijajoči se nevro-mehki sistemi</a:t>
            </a:r>
            <a:endParaRPr lang="sl-SI" sz="5400"/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0659CA1E-78AE-4B20-B988-09B42C7E7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744486"/>
            <a:ext cx="4014216" cy="2418564"/>
          </a:xfrm>
          <a:prstGeom prst="rect">
            <a:avLst/>
          </a:pr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2EE79E24-625E-4E2A-8A73-BDF3D1547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83" y="3776692"/>
            <a:ext cx="3995928" cy="1128849"/>
          </a:xfrm>
          <a:prstGeom prst="rect">
            <a:avLst/>
          </a:prstGeom>
        </p:spPr>
      </p:pic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8B963D87-ED67-48B8-B813-8E8482775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2418564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-mehki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modeli so sestavljeni iz mehkih pravil v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topologiji nevronskega omrežja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povezavami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[6]. Vedno jih lahko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pretvorimo v mehki mode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 tako, da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roje preslikamo v mehke množice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Mehka pravila lahko sestavljajo več mehkih množic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set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)[12], ampak uporaba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enega pra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vila za vsak roj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 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neuro-fuzzy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sistemih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poenostavi adaptiranje strukture modela z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združevanjem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ločevanjem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splitting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odstranjevanjem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removal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pravil.</a:t>
            </a:r>
            <a:endParaRPr lang="sl-SI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Slika 4">
            <a:extLst>
              <a:ext uri="{FF2B5EF4-FFF2-40B4-BE49-F238E27FC236}">
                <a16:creationId xmlns:a16="http://schemas.microsoft.com/office/drawing/2014/main" id="{CF035824-EFDA-41FA-8349-C1DFF0B6E0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37179-F583-40B4-856E-2BB57621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6</a:t>
            </a:fld>
            <a:endParaRPr lang="sl-S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72E00-ECD2-47B7-AC49-7FC491FC70D8}"/>
              </a:ext>
            </a:extLst>
          </p:cNvPr>
          <p:cNvSpPr txBox="1"/>
          <p:nvPr/>
        </p:nvSpPr>
        <p:spPr>
          <a:xfrm>
            <a:off x="71155" y="6024293"/>
            <a:ext cx="1202860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[6]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[12]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900" dirty="0">
              <a:solidFill>
                <a:schemeClr val="bg1">
                  <a:lumMod val="50000"/>
                </a:schemeClr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[13]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C12749-6FD6-482D-B1B0-6D2E11D2EFE0}"/>
              </a:ext>
            </a:extLst>
          </p:cNvPr>
          <p:cNvSpPr txBox="1"/>
          <p:nvPr/>
        </p:nvSpPr>
        <p:spPr>
          <a:xfrm>
            <a:off x="3462527" y="2793718"/>
            <a:ext cx="934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[13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3723326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DEFDC10-7C15-4C14-A50B-D3AC13E6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3800" dirty="0"/>
              <a:t>Transparentnost in </a:t>
            </a:r>
            <a:r>
              <a:rPr lang="sl-SI" sz="3800" dirty="0" err="1"/>
              <a:t>interpretabilnost</a:t>
            </a:r>
            <a:endParaRPr lang="sl-SI" sz="3800" dirty="0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3DBCEB0-1B80-4DF7-B8D5-E46354574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1800" b="1" dirty="0"/>
              <a:t>Razločljivost</a:t>
            </a:r>
            <a:r>
              <a:rPr lang="sl-SI" sz="1800" dirty="0"/>
              <a:t> (d</a:t>
            </a:r>
            <a:r>
              <a:rPr lang="en-US" sz="1800" dirty="0" err="1"/>
              <a:t>istinguishability</a:t>
            </a:r>
            <a:r>
              <a:rPr lang="en-US" sz="1800" dirty="0"/>
              <a:t> </a:t>
            </a:r>
            <a:r>
              <a:rPr lang="sl-SI" sz="1800" dirty="0"/>
              <a:t>) – brez prekrivanja (</a:t>
            </a:r>
            <a:r>
              <a:rPr lang="sl-SI" sz="1800" dirty="0" err="1"/>
              <a:t>overlapping</a:t>
            </a:r>
            <a:r>
              <a:rPr lang="sl-SI" sz="1800" dirty="0"/>
              <a:t>), brez odvečnih struktur,</a:t>
            </a:r>
          </a:p>
          <a:p>
            <a:r>
              <a:rPr lang="sl-SI" sz="1800" b="1" dirty="0"/>
              <a:t>Preprostost</a:t>
            </a:r>
            <a:r>
              <a:rPr lang="sl-SI" sz="1800" dirty="0"/>
              <a:t> (</a:t>
            </a:r>
            <a:r>
              <a:rPr lang="en-US" sz="1800" dirty="0"/>
              <a:t>simplicity </a:t>
            </a:r>
            <a:r>
              <a:rPr lang="sl-SI" sz="1800" dirty="0"/>
              <a:t>) – čim manj rojev, kompromis med natančnostjo in kompleksnostjo,</a:t>
            </a:r>
          </a:p>
          <a:p>
            <a:r>
              <a:rPr lang="sl-SI" sz="1800" b="1" dirty="0"/>
              <a:t>Konsistentnost</a:t>
            </a:r>
            <a:r>
              <a:rPr lang="sl-SI" sz="1800" dirty="0"/>
              <a:t> (</a:t>
            </a:r>
            <a:r>
              <a:rPr lang="en-US" sz="1800" dirty="0"/>
              <a:t>consistency</a:t>
            </a:r>
            <a:r>
              <a:rPr lang="sl-SI" sz="1800" dirty="0"/>
              <a:t>) – roji z različnimi posledičnimi deli morajo biti ločeni,</a:t>
            </a:r>
          </a:p>
          <a:p>
            <a:r>
              <a:rPr lang="sl-SI" sz="1800" b="1" dirty="0"/>
              <a:t>Pokritost</a:t>
            </a:r>
            <a:r>
              <a:rPr lang="sl-SI" sz="1800" dirty="0"/>
              <a:t> (c</a:t>
            </a:r>
            <a:r>
              <a:rPr lang="en-US" sz="1800" dirty="0"/>
              <a:t>overage</a:t>
            </a:r>
            <a:r>
              <a:rPr lang="sl-SI" sz="1800" dirty="0"/>
              <a:t>)</a:t>
            </a:r>
            <a:r>
              <a:rPr lang="en-US" sz="1800" dirty="0"/>
              <a:t> </a:t>
            </a:r>
            <a:r>
              <a:rPr lang="sl-SI" sz="1800" dirty="0"/>
              <a:t>in </a:t>
            </a:r>
            <a:r>
              <a:rPr lang="sl-SI" sz="1800" b="1" dirty="0"/>
              <a:t>popolnost</a:t>
            </a:r>
            <a:r>
              <a:rPr lang="sl-SI" sz="1800" dirty="0"/>
              <a:t> modela (</a:t>
            </a:r>
            <a:r>
              <a:rPr lang="en-US" sz="1800" dirty="0"/>
              <a:t>completeness</a:t>
            </a:r>
            <a:r>
              <a:rPr lang="sl-SI" sz="1800" dirty="0"/>
              <a:t>) </a:t>
            </a:r>
            <a:r>
              <a:rPr kumimoji="0" lang="sl-SI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lang="sl-SI" sz="1800" dirty="0"/>
              <a:t> celoten prostor naj bi bil pokrit z roji,</a:t>
            </a:r>
          </a:p>
          <a:p>
            <a:r>
              <a:rPr lang="sl-SI" sz="1800" b="1" dirty="0" err="1"/>
              <a:t>Interpretabilnost</a:t>
            </a:r>
            <a:r>
              <a:rPr lang="sl-SI" sz="1800" b="1" dirty="0"/>
              <a:t> posledičnega dela,</a:t>
            </a:r>
          </a:p>
          <a:p>
            <a:r>
              <a:rPr lang="sl-SI" sz="1800" b="1" dirty="0"/>
              <a:t>Pomembnost </a:t>
            </a:r>
            <a:r>
              <a:rPr lang="sl-SI" sz="1800" b="1" dirty="0" err="1"/>
              <a:t>značilk</a:t>
            </a:r>
            <a:r>
              <a:rPr lang="sl-SI" sz="1800" b="1" dirty="0"/>
              <a:t>,</a:t>
            </a:r>
          </a:p>
          <a:p>
            <a:r>
              <a:rPr lang="sl-SI" sz="1800" b="1" dirty="0"/>
              <a:t>Pomembnost pravil.</a:t>
            </a:r>
            <a:endParaRPr lang="sl-SI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2200" dirty="0"/>
          </a:p>
          <a:p>
            <a:endParaRPr lang="sl-SI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77640-8D38-4CB3-89E5-FF21B193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7</a:t>
            </a:fld>
            <a:endParaRPr lang="sl-SI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3087ADEC-0877-4E2C-892B-C7B672B98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1A6328-5AB3-4859-BE43-A2BCBF085DA7}"/>
              </a:ext>
            </a:extLst>
          </p:cNvPr>
          <p:cNvSpPr txBox="1"/>
          <p:nvPr/>
        </p:nvSpPr>
        <p:spPr>
          <a:xfrm>
            <a:off x="412337" y="6490643"/>
            <a:ext cx="113642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[8]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03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925DB-5F5D-4769-B365-53CAD80D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sl-SI" sz="5400" dirty="0"/>
              <a:t>Rojenje in granulacija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B716A637-5B18-4C90-97D1-63B8180BA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885" y="392430"/>
            <a:ext cx="2477686" cy="1443252"/>
          </a:xfrm>
          <a:prstGeom prst="rect">
            <a:avLst/>
          </a:pr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1599C-9051-4E2D-A5D8-F217221C0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Najbolj pogosto so uporabljene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Gaussove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trapezoidne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ali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trikote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pripadnostne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].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l-SI" sz="1800" b="0" i="0" dirty="0">
                <a:effectLst/>
              </a:rPr>
              <a:t>Predhodna (</a:t>
            </a:r>
            <a:r>
              <a:rPr lang="sl-SI" sz="1800" b="0" i="0" dirty="0" err="1">
                <a:effectLst/>
              </a:rPr>
              <a:t>antecedent</a:t>
            </a:r>
            <a:r>
              <a:rPr lang="sl-SI" sz="1800" b="0" i="0" dirty="0">
                <a:effectLst/>
              </a:rPr>
              <a:t>) struktura </a:t>
            </a:r>
            <a:r>
              <a:rPr lang="sl-SI" sz="1800" b="0" i="0" dirty="0" err="1">
                <a:effectLst/>
              </a:rPr>
              <a:t>samorazvijajočih</a:t>
            </a:r>
            <a:r>
              <a:rPr lang="sl-SI" sz="1800" b="0" i="0" dirty="0">
                <a:effectLst/>
              </a:rPr>
              <a:t> se sistemov je lahko sestavljena iz </a:t>
            </a:r>
            <a:r>
              <a:rPr lang="sl-SI" sz="1800" b="1" i="0" dirty="0">
                <a:effectLst/>
              </a:rPr>
              <a:t>mehkih možic </a:t>
            </a:r>
            <a:r>
              <a:rPr lang="sl-SI" sz="1800" b="0" i="0" dirty="0">
                <a:effectLst/>
              </a:rPr>
              <a:t>[1], </a:t>
            </a:r>
            <a:r>
              <a:rPr lang="sl-SI" sz="1800" b="1" i="0" dirty="0">
                <a:effectLst/>
              </a:rPr>
              <a:t>informacijskih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5 ,11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listov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nevronov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oblakov podatkov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[12,15],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[3, 14, 2], </a:t>
            </a:r>
            <a:r>
              <a:rPr lang="sl-SI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hiperravnin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[16],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teselacij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essellation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)[9] idr. </a:t>
            </a:r>
          </a:p>
          <a:p>
            <a:pPr marL="0" indent="0">
              <a:buNone/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Informacijske granule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skupine objektov ali elementov s podobnimi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lastnostmi, funkcionalnostjo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prostorsko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bližino [12], [5]. Nekateri modeli predstavijo granule v obliki oblakov podatkov brez centrov ali definiranih mej [12]. </a:t>
            </a:r>
            <a:endParaRPr lang="sl-SI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57EAB7B9-C178-4EC6-9A26-2FCA9232B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1612097"/>
            <a:ext cx="1748453" cy="1890220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908DF426-1E34-4908-A0BC-B039426CE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6285" y="3901826"/>
            <a:ext cx="2303308" cy="1635349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3DED62EC-E77A-468D-B37A-2F368BA5C7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5926A-C1E4-441D-8168-8A41AC9C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8</a:t>
            </a:fld>
            <a:endParaRPr lang="sl-SI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4A8E360B-A1E2-4AED-9D54-4F79BE2BA0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8074" y="3893000"/>
            <a:ext cx="2245052" cy="1776484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35BE1C1F-18FF-41CA-8072-6B4D8C91FD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9375" y="2004989"/>
            <a:ext cx="2245053" cy="18172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26FB7F-DADB-4F0F-94E9-EDA726B94010}"/>
              </a:ext>
            </a:extLst>
          </p:cNvPr>
          <p:cNvSpPr txBox="1"/>
          <p:nvPr/>
        </p:nvSpPr>
        <p:spPr>
          <a:xfrm>
            <a:off x="177173" y="5537175"/>
            <a:ext cx="1133856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[2]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700" dirty="0">
              <a:solidFill>
                <a:schemeClr val="bg1">
                  <a:lumMod val="50000"/>
                </a:schemeClr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[3]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[5]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[10] Angelov, P. P.,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7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[12]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[14]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Porto, A.,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[15] Angelov, P., &amp;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5596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7EC456E-D405-4E59-BBB5-E6494BC6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sl-SI" sz="5400" dirty="0"/>
              <a:t>Metode rojenja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C8395A6-C043-47BC-A1BA-EF142E98D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656381" cy="3909192"/>
          </a:xfrm>
        </p:spPr>
        <p:txBody>
          <a:bodyPr anchor="t">
            <a:normAutofit fontScale="92500" lnSpcReduction="20000"/>
          </a:bodyPr>
          <a:lstStyle/>
          <a:p>
            <a:r>
              <a:rPr lang="sl-SI" sz="1600" b="1" dirty="0"/>
              <a:t>Odštevalno rojenje </a:t>
            </a:r>
            <a:r>
              <a:rPr lang="sl-SI" sz="1600" dirty="0"/>
              <a:t>(</a:t>
            </a:r>
            <a:r>
              <a:rPr lang="sl-SI" sz="1600" i="1" dirty="0" err="1"/>
              <a:t>subtractive</a:t>
            </a:r>
            <a:r>
              <a:rPr lang="sl-SI" sz="1600" i="1" dirty="0"/>
              <a:t> </a:t>
            </a:r>
            <a:r>
              <a:rPr lang="sl-SI" sz="1600" i="1" dirty="0" err="1"/>
              <a:t>clustering</a:t>
            </a:r>
            <a:r>
              <a:rPr lang="sl-SI" sz="1600" dirty="0"/>
              <a:t>) [1, 15], </a:t>
            </a:r>
          </a:p>
          <a:p>
            <a:r>
              <a:rPr lang="sl-SI" sz="1600" b="1" dirty="0"/>
              <a:t>mehko rojenje s C-središči </a:t>
            </a:r>
            <a:r>
              <a:rPr lang="sl-SI" sz="1600" dirty="0"/>
              <a:t>(</a:t>
            </a:r>
            <a:r>
              <a:rPr lang="sl-SI" sz="1600" i="1" dirty="0" err="1"/>
              <a:t>Fuzzy</a:t>
            </a:r>
            <a:r>
              <a:rPr lang="sl-SI" sz="1600" i="1" dirty="0"/>
              <a:t> C-</a:t>
            </a:r>
            <a:r>
              <a:rPr lang="sl-SI" sz="1600" i="1" dirty="0" err="1"/>
              <a:t>means</a:t>
            </a:r>
            <a:r>
              <a:rPr lang="sl-SI" sz="1600" dirty="0"/>
              <a:t>), </a:t>
            </a:r>
          </a:p>
          <a:p>
            <a:r>
              <a:rPr lang="sl-SI" sz="1600" dirty="0"/>
              <a:t>rekurzivno rojenje po metodi </a:t>
            </a:r>
            <a:r>
              <a:rPr lang="sl-SI" sz="1600" b="1" dirty="0" err="1"/>
              <a:t>Gustafson-Kesse</a:t>
            </a:r>
            <a:r>
              <a:rPr lang="sl-SI" sz="1600" dirty="0" err="1"/>
              <a:t>l</a:t>
            </a:r>
            <a:r>
              <a:rPr lang="sl-SI" sz="1600" dirty="0"/>
              <a:t> [3,16],</a:t>
            </a:r>
          </a:p>
          <a:p>
            <a:r>
              <a:rPr lang="sl-SI" sz="1600" dirty="0"/>
              <a:t>rekurzivno rojenje po metodi </a:t>
            </a:r>
            <a:r>
              <a:rPr lang="sl-SI" sz="1600" b="1" dirty="0" err="1"/>
              <a:t>Gath-Geva</a:t>
            </a:r>
            <a:r>
              <a:rPr lang="sl-SI" sz="1600" b="1" dirty="0"/>
              <a:t> </a:t>
            </a:r>
            <a:r>
              <a:rPr lang="sl-SI" sz="1600" dirty="0"/>
              <a:t>[17],</a:t>
            </a:r>
          </a:p>
          <a:p>
            <a:r>
              <a:rPr lang="sl-SI" sz="1600" b="1" dirty="0" err="1"/>
              <a:t>samorazvijajoče</a:t>
            </a:r>
            <a:r>
              <a:rPr lang="sl-SI" sz="1600" b="1" dirty="0"/>
              <a:t> se rojenje </a:t>
            </a:r>
            <a:r>
              <a:rPr lang="sl-SI" sz="1600" dirty="0"/>
              <a:t>(</a:t>
            </a:r>
            <a:r>
              <a:rPr lang="sl-SI" sz="1600" dirty="0" err="1"/>
              <a:t>evolving</a:t>
            </a:r>
            <a:r>
              <a:rPr lang="sl-SI" sz="1600" dirty="0"/>
              <a:t> </a:t>
            </a:r>
            <a:r>
              <a:rPr lang="sl-SI" sz="1600" dirty="0" err="1"/>
              <a:t>clustering</a:t>
            </a:r>
            <a:r>
              <a:rPr lang="sl-SI" sz="1600" dirty="0"/>
              <a:t> </a:t>
            </a:r>
            <a:r>
              <a:rPr lang="sl-SI" sz="1600" dirty="0" err="1"/>
              <a:t>method</a:t>
            </a:r>
            <a:r>
              <a:rPr lang="sl-SI" sz="1600" dirty="0"/>
              <a:t>) [13], </a:t>
            </a:r>
          </a:p>
          <a:p>
            <a:pPr>
              <a:lnSpc>
                <a:spcPct val="120000"/>
              </a:lnSpc>
            </a:pPr>
            <a:r>
              <a:rPr lang="sl-SI" sz="1600" b="1" dirty="0" err="1"/>
              <a:t>inkrementalno</a:t>
            </a:r>
            <a:r>
              <a:rPr lang="sl-SI" sz="1600" b="1" dirty="0"/>
              <a:t> mehko rojenje s C-regresijo </a:t>
            </a:r>
            <a:r>
              <a:rPr lang="sl-SI" sz="1600" dirty="0"/>
              <a:t>(</a:t>
            </a:r>
            <a:r>
              <a:rPr lang="sl-SI" sz="1600" i="1" dirty="0" err="1"/>
              <a:t>incremental</a:t>
            </a:r>
            <a:r>
              <a:rPr lang="sl-SI" sz="1600" i="1" dirty="0"/>
              <a:t> </a:t>
            </a:r>
            <a:r>
              <a:rPr lang="sl-SI" sz="1600" i="1" dirty="0" err="1"/>
              <a:t>fuzzy</a:t>
            </a:r>
            <a:r>
              <a:rPr lang="sl-SI" sz="1600" i="1" dirty="0"/>
              <a:t> C-</a:t>
            </a:r>
            <a:r>
              <a:rPr lang="sl-SI" sz="1600" i="1" dirty="0" err="1"/>
              <a:t>regression</a:t>
            </a:r>
            <a:r>
              <a:rPr lang="sl-SI" sz="1600" i="1" dirty="0"/>
              <a:t> </a:t>
            </a:r>
            <a:r>
              <a:rPr lang="sl-SI" sz="1600" i="1" dirty="0" err="1"/>
              <a:t>clustering</a:t>
            </a:r>
            <a:r>
              <a:rPr lang="sl-SI" sz="1600" dirty="0"/>
              <a:t>) [9],  </a:t>
            </a:r>
          </a:p>
          <a:p>
            <a:r>
              <a:rPr lang="sl-SI" sz="1600" b="1" dirty="0"/>
              <a:t>rojenje s C-možnimi roji </a:t>
            </a:r>
            <a:r>
              <a:rPr lang="sl-SI" sz="1600" dirty="0"/>
              <a:t>(</a:t>
            </a:r>
            <a:r>
              <a:rPr lang="sl-SI" sz="1600" dirty="0" err="1"/>
              <a:t>possibilistic</a:t>
            </a:r>
            <a:r>
              <a:rPr lang="sl-SI" sz="1600" dirty="0"/>
              <a:t> C-</a:t>
            </a:r>
            <a:r>
              <a:rPr lang="sl-SI" sz="1600" dirty="0" err="1"/>
              <a:t>means</a:t>
            </a:r>
            <a:r>
              <a:rPr lang="sl-SI" sz="1600" dirty="0"/>
              <a:t>),</a:t>
            </a:r>
          </a:p>
          <a:p>
            <a:r>
              <a:rPr lang="sl-SI" sz="1600" dirty="0"/>
              <a:t>rojenje na osnovi </a:t>
            </a:r>
            <a:r>
              <a:rPr lang="sl-SI" sz="1600" b="1" dirty="0"/>
              <a:t>gostote </a:t>
            </a:r>
            <a:r>
              <a:rPr lang="sl-SI" sz="1600" dirty="0"/>
              <a:t>(</a:t>
            </a:r>
            <a:r>
              <a:rPr lang="sl-SI" sz="1600" dirty="0" err="1"/>
              <a:t>density-based</a:t>
            </a:r>
            <a:r>
              <a:rPr lang="sl-SI" sz="1600" dirty="0"/>
              <a:t>)[12], </a:t>
            </a:r>
          </a:p>
          <a:p>
            <a:r>
              <a:rPr lang="sl-SI" sz="1600" dirty="0"/>
              <a:t>rojenje na osnovi </a:t>
            </a:r>
            <a:r>
              <a:rPr lang="sl-SI" sz="1600" b="1" dirty="0"/>
              <a:t>razpršenosti </a:t>
            </a:r>
            <a:r>
              <a:rPr lang="sl-SI" sz="1600" dirty="0"/>
              <a:t>(</a:t>
            </a:r>
            <a:r>
              <a:rPr lang="sl-SI" sz="1600" dirty="0" err="1"/>
              <a:t>scatter-based</a:t>
            </a:r>
            <a:r>
              <a:rPr lang="sl-SI" sz="1600" dirty="0"/>
              <a:t>) [18],</a:t>
            </a:r>
          </a:p>
          <a:p>
            <a:r>
              <a:rPr lang="sl-SI" sz="1600" dirty="0"/>
              <a:t>rojenje s </a:t>
            </a:r>
            <a:r>
              <a:rPr lang="sl-SI" sz="1600" b="1" dirty="0"/>
              <a:t>vektorsko kvantizacijo </a:t>
            </a:r>
            <a:r>
              <a:rPr lang="sl-SI" sz="1600" dirty="0"/>
              <a:t>(</a:t>
            </a:r>
            <a:r>
              <a:rPr lang="sl-SI" sz="1600" dirty="0" err="1"/>
              <a:t>vector</a:t>
            </a:r>
            <a:r>
              <a:rPr lang="sl-SI" sz="1600" dirty="0"/>
              <a:t> </a:t>
            </a:r>
            <a:r>
              <a:rPr lang="sl-SI" sz="1600" dirty="0" err="1"/>
              <a:t>quantization</a:t>
            </a:r>
            <a:r>
              <a:rPr lang="sl-SI" sz="1600" dirty="0"/>
              <a:t>) [19],  </a:t>
            </a:r>
          </a:p>
          <a:p>
            <a:r>
              <a:rPr lang="sl-SI" sz="1600" dirty="0" err="1"/>
              <a:t>samorazvijajoče</a:t>
            </a:r>
            <a:r>
              <a:rPr lang="sl-SI" sz="1600" dirty="0"/>
              <a:t> se </a:t>
            </a:r>
            <a:r>
              <a:rPr lang="sl-SI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Gaussovo </a:t>
            </a:r>
            <a:r>
              <a:rPr lang="sl-SI" sz="1600" dirty="0"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sl-SI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ojenje </a:t>
            </a:r>
            <a:r>
              <a:rPr lang="sl-SI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6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eGauss</a:t>
            </a:r>
            <a:r>
              <a:rPr lang="sl-SI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idr.</a:t>
            </a:r>
          </a:p>
        </p:txBody>
      </p:sp>
      <p:pic>
        <p:nvPicPr>
          <p:cNvPr id="8" name="Slika 7" descr="Slika, ki vsebuje besede besedilo&#10;&#10;Opis je samodejno ustvarjen">
            <a:extLst>
              <a:ext uri="{FF2B5EF4-FFF2-40B4-BE49-F238E27FC236}">
                <a16:creationId xmlns:a16="http://schemas.microsoft.com/office/drawing/2014/main" id="{F057BFDF-3E42-4BB8-8623-4B77CC947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191" y="2367792"/>
            <a:ext cx="3663771" cy="1245682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54B71B-2949-4EE9-AA67-6232A6F2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9</a:t>
            </a:fld>
            <a:endParaRPr lang="sl-SI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49B23FB3-161C-4BD6-AD9B-09220DB3C2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4" name="Slika 13" descr="Slika, ki vsebuje besede besedilo, oranžna, antena, dan&#10;&#10;Opis je samodejno ustvarjen">
            <a:extLst>
              <a:ext uri="{FF2B5EF4-FFF2-40B4-BE49-F238E27FC236}">
                <a16:creationId xmlns:a16="http://schemas.microsoft.com/office/drawing/2014/main" id="{55479145-6CF5-47A0-93D5-23934F8F8E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697732"/>
            <a:ext cx="2776353" cy="953418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9B312533-066A-49D1-9F28-DEFD44A7DE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7317" y="2225914"/>
            <a:ext cx="3078867" cy="423434"/>
          </a:xfrm>
          <a:prstGeom prst="rect">
            <a:avLst/>
          </a:prstGeom>
        </p:spPr>
      </p:pic>
      <p:pic>
        <p:nvPicPr>
          <p:cNvPr id="17" name="Slika 4">
            <a:extLst>
              <a:ext uri="{FF2B5EF4-FFF2-40B4-BE49-F238E27FC236}">
                <a16:creationId xmlns:a16="http://schemas.microsoft.com/office/drawing/2014/main" id="{593A5D32-7A7C-4F7C-B891-CFFFAA1A15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1300" y="887862"/>
            <a:ext cx="2706820" cy="423676"/>
          </a:xfrm>
          <a:prstGeom prst="rect">
            <a:avLst/>
          </a:prstGeom>
        </p:spPr>
      </p:pic>
      <p:pic>
        <p:nvPicPr>
          <p:cNvPr id="19" name="Slika 5" descr="Slika, ki vsebuje besede besedilo&#10;&#10;Opis je samodejno ustvarjen">
            <a:extLst>
              <a:ext uri="{FF2B5EF4-FFF2-40B4-BE49-F238E27FC236}">
                <a16:creationId xmlns:a16="http://schemas.microsoft.com/office/drawing/2014/main" id="{D35C37BC-E55C-473D-B7A2-48AD29E8CD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7324" y="1363354"/>
            <a:ext cx="3906393" cy="66769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F3915B4-3F5A-494A-86E5-4E7AEBE329A6}"/>
              </a:ext>
            </a:extLst>
          </p:cNvPr>
          <p:cNvSpPr txBox="1"/>
          <p:nvPr/>
        </p:nvSpPr>
        <p:spPr>
          <a:xfrm>
            <a:off x="5350037" y="4041354"/>
            <a:ext cx="68419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Angelov, P., &amp;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(2011). Recursive clustering based on a Gustafson-Kessel algorithm. Evolving Systems, 2(1), 15–24.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Soleimani-B, H., Lucas, C.,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D.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Škrjanc, and F.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“An overview on evolving systems and learning from stream data,” Evolving Systems, vol. 11, no. 2, pp. 181–198, Jun. 2020.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Andonovski, G., Mušič, G., Blažič, S., &amp; Škrjanc, I. (2018). Evolving model identification for process monitoring and prediction of non-linear systems.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4E33A3-DA3B-4CA6-BD08-D649F531296B}"/>
              </a:ext>
            </a:extLst>
          </p:cNvPr>
          <p:cNvSpPr txBox="1"/>
          <p:nvPr/>
        </p:nvSpPr>
        <p:spPr>
          <a:xfrm>
            <a:off x="9261534" y="1732725"/>
            <a:ext cx="57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[19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sl-SI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65ABBC-C6F3-4840-A57C-FFECDD082730}"/>
              </a:ext>
            </a:extLst>
          </p:cNvPr>
          <p:cNvSpPr txBox="1"/>
          <p:nvPr/>
        </p:nvSpPr>
        <p:spPr>
          <a:xfrm>
            <a:off x="11198741" y="2225914"/>
            <a:ext cx="633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6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endParaRPr lang="sl-SI" sz="16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5A0888B-FC45-4C22-A2E7-4B6D3FCB5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5320"/>
            <a:ext cx="65" cy="251359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B48C6CF9-C31A-4677-8229-AD65915DE223}"/>
              </a:ext>
            </a:extLst>
          </p:cNvPr>
          <p:cNvSpPr txBox="1"/>
          <p:nvPr/>
        </p:nvSpPr>
        <p:spPr>
          <a:xfrm>
            <a:off x="8518584" y="2357733"/>
            <a:ext cx="57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[20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sl-SI" sz="1400" dirty="0"/>
          </a:p>
        </p:txBody>
      </p:sp>
    </p:spTree>
    <p:extLst>
      <p:ext uri="{BB962C8B-B14F-4D97-AF65-F5344CB8AC3E}">
        <p14:creationId xmlns:p14="http://schemas.microsoft.com/office/powerpoint/2010/main" val="32405174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B044FD0-1EE5-42EF-861C-E6A70CA8D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5400" dirty="0"/>
              <a:t>Dodajanje rojev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DC65FC8-07E2-4ADE-BD82-136E54F8B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3304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1800" b="1" dirty="0"/>
              <a:t>Razdalja</a:t>
            </a:r>
            <a:r>
              <a:rPr lang="sl-SI" sz="1800" dirty="0"/>
              <a:t> novega vzorca (Evklidova, </a:t>
            </a:r>
            <a:r>
              <a:rPr lang="sl-SI" sz="1800" dirty="0" err="1"/>
              <a:t>Mahalanobisova</a:t>
            </a:r>
            <a:r>
              <a:rPr lang="sl-SI" sz="1800" dirty="0"/>
              <a:t>) do obstoječih struktur [19,13,3],</a:t>
            </a:r>
          </a:p>
          <a:p>
            <a:r>
              <a:rPr lang="sl-SI" sz="1800" b="1" dirty="0"/>
              <a:t>Pripadnost</a:t>
            </a:r>
            <a:r>
              <a:rPr lang="sl-SI" sz="1800" dirty="0"/>
              <a:t> novega vzorca obstoječim strukturam (</a:t>
            </a:r>
            <a:r>
              <a:rPr lang="en-US" sz="1800" i="1" dirty="0">
                <a:effectLst/>
                <a:ea typeface="Calibri" panose="020F0502020204030204" pitchFamily="34" charset="0"/>
              </a:rPr>
              <a:t>є</a:t>
            </a:r>
            <a:r>
              <a:rPr lang="en-US" sz="1800" dirty="0">
                <a:effectLst/>
                <a:ea typeface="Calibri" panose="020F0502020204030204" pitchFamily="34" charset="0"/>
              </a:rPr>
              <a:t>-completeness</a:t>
            </a:r>
            <a:r>
              <a:rPr lang="sl-SI" sz="1800" dirty="0"/>
              <a:t>) [1],</a:t>
            </a:r>
          </a:p>
          <a:p>
            <a:r>
              <a:rPr lang="sl-SI" sz="1800" b="1" dirty="0"/>
              <a:t>Potencial</a:t>
            </a:r>
            <a:r>
              <a:rPr lang="sl-SI" sz="1800" dirty="0"/>
              <a:t> 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potential</a:t>
            </a:r>
            <a:r>
              <a:rPr lang="sl-SI" sz="1800" dirty="0"/>
              <a:t>) vzorca [1],</a:t>
            </a:r>
          </a:p>
          <a:p>
            <a:r>
              <a:rPr lang="sl-SI" sz="1800" b="1" dirty="0"/>
              <a:t>Gostota</a:t>
            </a:r>
            <a:r>
              <a:rPr lang="sl-SI" sz="1800" dirty="0"/>
              <a:t> (</a:t>
            </a:r>
            <a:r>
              <a:rPr lang="sl-SI" sz="1800" dirty="0" err="1"/>
              <a:t>density</a:t>
            </a:r>
            <a:r>
              <a:rPr lang="sl-SI" sz="1800" dirty="0"/>
              <a:t>) vzorca [20],</a:t>
            </a:r>
          </a:p>
          <a:p>
            <a:r>
              <a:rPr lang="sl-SI" sz="1800" dirty="0"/>
              <a:t>Največje </a:t>
            </a:r>
            <a:r>
              <a:rPr lang="sl-SI" sz="1800" b="1" dirty="0"/>
              <a:t>dovoljeno število rojev</a:t>
            </a:r>
            <a:r>
              <a:rPr lang="sl-SI" sz="1800" dirty="0"/>
              <a:t> [20],</a:t>
            </a:r>
          </a:p>
          <a:p>
            <a:r>
              <a:rPr lang="sl-SI" sz="1800" dirty="0"/>
              <a:t>Število vzorcev od zadnjega dodanega roja [20]idr. </a:t>
            </a:r>
          </a:p>
          <a:p>
            <a:pPr marL="0" indent="0">
              <a:buNone/>
            </a:pPr>
            <a:endParaRPr lang="sl-SI" sz="1800" dirty="0"/>
          </a:p>
          <a:p>
            <a:pPr marL="0" indent="0">
              <a:buNone/>
            </a:pPr>
            <a:r>
              <a:rPr lang="sl-SI" sz="1800" dirty="0"/>
              <a:t>Dodani roji so </a:t>
            </a:r>
            <a:r>
              <a:rPr lang="sl-SI" sz="1800" dirty="0" err="1"/>
              <a:t>inicializirani</a:t>
            </a:r>
            <a:r>
              <a:rPr lang="sl-SI" sz="1800" dirty="0"/>
              <a:t> z ničtimi vrednostmi, s povprečjem bližnjih rojev [10], s minimalno pokritostjo prostora idr. </a:t>
            </a:r>
          </a:p>
          <a:p>
            <a:pPr marL="0" indent="0">
              <a:buNone/>
            </a:pPr>
            <a:endParaRPr lang="sl-SI" sz="2200" dirty="0"/>
          </a:p>
          <a:p>
            <a:endParaRPr lang="sl-SI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2933B-F06D-4267-87AB-9A97A4C4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10</a:t>
            </a:fld>
            <a:endParaRPr lang="sl-SI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65E7503-2AA0-4D7F-93AE-7C63C0457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BDDF24-BE12-45C1-B3C4-A341AB166400}"/>
              </a:ext>
            </a:extLst>
          </p:cNvPr>
          <p:cNvSpPr txBox="1"/>
          <p:nvPr/>
        </p:nvSpPr>
        <p:spPr>
          <a:xfrm>
            <a:off x="0" y="5710122"/>
            <a:ext cx="12534900" cy="95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P.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 P. (2004). An Approach to Online Identification of Takagi-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Sugeno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Fuzzy Models. IEEE Transactions on Systems, Man, and Cybernetics, Part B: Cybernetics, 34(1), 484–498.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07000"/>
              </a:lnSpc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[10]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26(4), 2213–2224. </a:t>
            </a: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13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Kasabov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N. K., &amp; Song, Q. (2002). DENFIS: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Dynamic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neural-fuzzy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inference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application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time-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10(2), 144–154.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[19]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D. (2008). FLEXFIS: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Takagi-Sugeno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16(6),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20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Andonovski, G., Mušič, G., Blažič, S., &amp; Škrjanc, I. (2018). Evolving model identification for process monitoring and prediction of non-linear systems. Engineering Applications of Artificial Intelligence, 68, 214–221.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01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CF62523-0C75-4FB1-8825-13E7EE36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4600" dirty="0"/>
              <a:t>Združevanje, razcep in odstranjevanje rojev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EBF0C0C-9362-444A-A2F4-408EE6781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l-SI" sz="2000" b="1" dirty="0"/>
              <a:t>Združevanje</a:t>
            </a:r>
            <a:r>
              <a:rPr lang="sl-SI" sz="2000" dirty="0"/>
              <a:t> (</a:t>
            </a:r>
            <a:r>
              <a:rPr lang="sl-SI" sz="2000" dirty="0" err="1"/>
              <a:t>merging</a:t>
            </a:r>
            <a:r>
              <a:rPr lang="sl-SI" sz="2000" dirty="0"/>
              <a:t>), </a:t>
            </a:r>
            <a:r>
              <a:rPr lang="sl-SI" sz="2000" b="1" dirty="0"/>
              <a:t>razcep </a:t>
            </a:r>
            <a:r>
              <a:rPr lang="sl-SI" sz="2000" dirty="0"/>
              <a:t>(</a:t>
            </a:r>
            <a:r>
              <a:rPr lang="sl-SI" sz="2000" dirty="0" err="1"/>
              <a:t>splitting</a:t>
            </a:r>
            <a:r>
              <a:rPr lang="sl-SI" sz="2000" dirty="0"/>
              <a:t>) in </a:t>
            </a:r>
            <a:r>
              <a:rPr lang="sl-SI" sz="2000" b="1" dirty="0"/>
              <a:t>odstranjevanje</a:t>
            </a:r>
            <a:r>
              <a:rPr lang="sl-SI" sz="2000" dirty="0"/>
              <a:t> (</a:t>
            </a:r>
            <a:r>
              <a:rPr lang="sl-SI" sz="2000" dirty="0" err="1"/>
              <a:t>removal</a:t>
            </a:r>
            <a:r>
              <a:rPr lang="sl-SI" sz="2000" dirty="0"/>
              <a:t>) rojev. Naključni vzorci iz toka podatkov ustvarijo </a:t>
            </a:r>
            <a:r>
              <a:rPr lang="sl-SI" sz="2000" b="1" dirty="0"/>
              <a:t>prekomerno število rojev</a:t>
            </a:r>
            <a:r>
              <a:rPr lang="sl-SI" sz="2000" dirty="0"/>
              <a:t>. Z dodajanjem vzorcev ali zaradi lezenja sistema (</a:t>
            </a:r>
            <a:r>
              <a:rPr lang="sl-SI" sz="2000" dirty="0" err="1"/>
              <a:t>drift</a:t>
            </a:r>
            <a:r>
              <a:rPr lang="sl-SI" sz="2000" dirty="0"/>
              <a:t>) [21]:</a:t>
            </a:r>
          </a:p>
          <a:p>
            <a:pPr lvl="1"/>
            <a:r>
              <a:rPr lang="sl-SI" sz="2000" b="1" dirty="0"/>
              <a:t>približevanje </a:t>
            </a:r>
            <a:r>
              <a:rPr lang="sl-SI" sz="2000" dirty="0"/>
              <a:t>rojev</a:t>
            </a:r>
            <a:r>
              <a:rPr lang="sl-SI" sz="2000" b="1" dirty="0"/>
              <a:t> </a:t>
            </a:r>
            <a:r>
              <a:rPr lang="sl-SI" sz="2000" dirty="0"/>
              <a:t>(</a:t>
            </a:r>
            <a:r>
              <a:rPr lang="en-US" sz="2000" dirty="0"/>
              <a:t>coalescence</a:t>
            </a:r>
            <a:r>
              <a:rPr lang="sl-SI" sz="2000" dirty="0"/>
              <a:t>),</a:t>
            </a:r>
          </a:p>
          <a:p>
            <a:pPr lvl="1"/>
            <a:r>
              <a:rPr lang="sl-SI" sz="2000" b="1" dirty="0"/>
              <a:t>separacija </a:t>
            </a:r>
            <a:r>
              <a:rPr lang="sl-SI" sz="2000" dirty="0"/>
              <a:t>rojev</a:t>
            </a:r>
            <a:r>
              <a:rPr lang="sl-SI" sz="2000" b="1" dirty="0"/>
              <a:t> </a:t>
            </a:r>
            <a:r>
              <a:rPr lang="sl-SI" sz="2000" dirty="0"/>
              <a:t>(</a:t>
            </a:r>
            <a:r>
              <a:rPr lang="en-US" sz="2000" dirty="0"/>
              <a:t>delamination</a:t>
            </a:r>
            <a:r>
              <a:rPr lang="sl-SI" sz="2000" dirty="0"/>
              <a:t>).</a:t>
            </a:r>
          </a:p>
          <a:p>
            <a:pPr marL="0" indent="0">
              <a:buNone/>
            </a:pP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Združevanje in razcep 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rojev lahko kompenzira za slabo izbiro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hiperparametrov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metode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sl-SI" sz="2000" dirty="0"/>
          </a:p>
          <a:p>
            <a:pPr marL="0" indent="0">
              <a:buNone/>
            </a:pP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Kompromis med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dolgoročno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stabilnostjo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kratkoročno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plastičnostjo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stability-plasticity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dilemma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].</a:t>
            </a:r>
            <a:endParaRPr lang="sl-SI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l-SI" sz="2000" dirty="0"/>
              <a:t>Z odstranjevanjem rojev </a:t>
            </a:r>
            <a:r>
              <a:rPr lang="sl-SI" sz="2000" b="1" dirty="0"/>
              <a:t>povečamo natančnost </a:t>
            </a:r>
            <a:r>
              <a:rPr lang="sl-SI" sz="2000" dirty="0"/>
              <a:t>ali </a:t>
            </a:r>
            <a:r>
              <a:rPr lang="sl-SI" sz="2000" b="1" dirty="0"/>
              <a:t>poenostavimo strukturo</a:t>
            </a:r>
            <a:r>
              <a:rPr lang="sl-SI" sz="2000" dirty="0"/>
              <a:t> modela. Obstoječ model je lahko napačen zaradi </a:t>
            </a:r>
            <a:r>
              <a:rPr lang="sl-SI" sz="2000" b="1" dirty="0"/>
              <a:t>osamelcev</a:t>
            </a:r>
            <a:r>
              <a:rPr lang="sl-SI" sz="2000" dirty="0"/>
              <a:t> ali </a:t>
            </a:r>
            <a:r>
              <a:rPr lang="sl-SI" sz="2000" b="1" dirty="0"/>
              <a:t>sprememb v lastnostih sistema </a:t>
            </a:r>
            <a:r>
              <a:rPr lang="sl-SI" sz="2000" dirty="0"/>
              <a:t>[22]. </a:t>
            </a:r>
            <a:endParaRPr lang="sl-SI" sz="2200" dirty="0"/>
          </a:p>
          <a:p>
            <a:pPr marL="0" indent="0">
              <a:buNone/>
            </a:pPr>
            <a:endParaRPr lang="sl-SI" sz="2000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A036C96C-10F7-41BB-B7D6-F69A405F6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DE962-2C8A-4C58-AF53-3B13DFF7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11</a:t>
            </a:fld>
            <a:endParaRPr lang="sl-SI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CF7009-4B8A-44B0-9C8A-E92773DB389F}"/>
              </a:ext>
            </a:extLst>
          </p:cNvPr>
          <p:cNvSpPr txBox="1"/>
          <p:nvPr/>
        </p:nvSpPr>
        <p:spPr>
          <a:xfrm>
            <a:off x="184150" y="6181344"/>
            <a:ext cx="11009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[19]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D. (2008). FLEXFIS: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Takagi-Sugeno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16(6),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21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Sayed-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Mouchaweh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M. (2015). Autonomous data stream clustering implementing split-and-merge concepts – Towards a plug-and-play approach. Information Sciences, 304, 54–79.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48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9C4D673-7BFA-4229-B881-FE238058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Pogoji za združevanje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4E9BDB-FFAF-4691-A07B-B175C22DE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1800" b="1" dirty="0"/>
              <a:t>prekrivanje </a:t>
            </a:r>
            <a:r>
              <a:rPr lang="sl-SI" sz="1800" dirty="0"/>
              <a:t>in </a:t>
            </a:r>
            <a:r>
              <a:rPr lang="sl-SI" sz="1800" b="1" dirty="0"/>
              <a:t>mere verjetnostne različnosti </a:t>
            </a:r>
            <a:r>
              <a:rPr lang="sl-SI" sz="1800" dirty="0"/>
              <a:t>rojev [3] (</a:t>
            </a:r>
            <a:r>
              <a:rPr lang="sl-SI" sz="1800" dirty="0" err="1"/>
              <a:t>Kullback</a:t>
            </a:r>
            <a:r>
              <a:rPr lang="sl-SI" sz="1800" dirty="0"/>
              <a:t>–</a:t>
            </a:r>
            <a:r>
              <a:rPr lang="sl-SI" sz="1800" dirty="0" err="1"/>
              <a:t>Leiblerjeva</a:t>
            </a:r>
            <a:r>
              <a:rPr lang="sl-SI" sz="1800" dirty="0"/>
              <a:t> divergenca, </a:t>
            </a:r>
            <a:r>
              <a:rPr lang="en-US" sz="1800" dirty="0" err="1"/>
              <a:t>Bhattacharyy</a:t>
            </a:r>
            <a:r>
              <a:rPr lang="sl-SI" sz="1800" dirty="0" err="1"/>
              <a:t>ajeva</a:t>
            </a:r>
            <a:r>
              <a:rPr lang="sl-SI" sz="1800" dirty="0"/>
              <a:t> razdalja [21]),</a:t>
            </a:r>
          </a:p>
          <a:p>
            <a:r>
              <a:rPr lang="sl-SI" sz="1800" dirty="0"/>
              <a:t>podobnosti med </a:t>
            </a:r>
            <a:r>
              <a:rPr lang="sl-SI" sz="1800" b="1" dirty="0"/>
              <a:t>aktivacijami pravil</a:t>
            </a:r>
            <a:r>
              <a:rPr lang="sl-SI" sz="1800" dirty="0"/>
              <a:t> [3],</a:t>
            </a:r>
          </a:p>
          <a:p>
            <a:r>
              <a:rPr lang="sl-SI" sz="1800" b="1" dirty="0"/>
              <a:t>razdalje</a:t>
            </a:r>
            <a:r>
              <a:rPr lang="sl-SI" sz="1800" dirty="0"/>
              <a:t> med roji (</a:t>
            </a:r>
            <a:r>
              <a:rPr lang="en-US" sz="1800" dirty="0"/>
              <a:t>Welch test</a:t>
            </a:r>
            <a:r>
              <a:rPr lang="sl-SI" sz="1800" dirty="0"/>
              <a:t>) </a:t>
            </a:r>
            <a:r>
              <a:rPr lang="en-US" sz="1800" dirty="0"/>
              <a:t>[</a:t>
            </a:r>
            <a:r>
              <a:rPr lang="sl-SI" sz="1800" dirty="0"/>
              <a:t>3,17,23,24</a:t>
            </a:r>
            <a:r>
              <a:rPr lang="en-US" sz="1800" dirty="0"/>
              <a:t>]</a:t>
            </a:r>
            <a:r>
              <a:rPr lang="sl-SI" sz="1800" dirty="0"/>
              <a:t> ali informacijskimi granuli [11],</a:t>
            </a:r>
          </a:p>
          <a:p>
            <a:r>
              <a:rPr lang="sl-SI" sz="1800" dirty="0"/>
              <a:t>primerjava </a:t>
            </a:r>
            <a:r>
              <a:rPr lang="sl-SI" sz="1800" b="1" dirty="0"/>
              <a:t>posledičnih parametrov </a:t>
            </a:r>
            <a:r>
              <a:rPr lang="sl-SI" sz="1800" dirty="0"/>
              <a:t>[3,25] idr.</a:t>
            </a:r>
          </a:p>
        </p:txBody>
      </p:sp>
      <p:pic>
        <p:nvPicPr>
          <p:cNvPr id="6" name="Picture 39" descr="Text&#10;&#10;Description automatically generated with medium confidence">
            <a:extLst>
              <a:ext uri="{FF2B5EF4-FFF2-40B4-BE49-F238E27FC236}">
                <a16:creationId xmlns:a16="http://schemas.microsoft.com/office/drawing/2014/main" id="{E9FA8733-898D-4316-BA85-8FDE057BA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781" y="3644658"/>
            <a:ext cx="1931988" cy="733536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A291E1AF-4115-4282-B2FE-8F606C019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4268" y="4517009"/>
            <a:ext cx="2452370" cy="593725"/>
          </a:xfrm>
          <a:prstGeom prst="rect">
            <a:avLst/>
          </a:prstGeom>
        </p:spPr>
      </p:pic>
      <p:pic>
        <p:nvPicPr>
          <p:cNvPr id="9" name="Picture 38">
            <a:extLst>
              <a:ext uri="{FF2B5EF4-FFF2-40B4-BE49-F238E27FC236}">
                <a16:creationId xmlns:a16="http://schemas.microsoft.com/office/drawing/2014/main" id="{08397847-3EC8-41A8-845B-2FBD81FAC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3646" y="4367295"/>
            <a:ext cx="3638550" cy="361950"/>
          </a:xfrm>
          <a:prstGeom prst="rect">
            <a:avLst/>
          </a:prstGeom>
        </p:spPr>
      </p:pic>
      <p:pic>
        <p:nvPicPr>
          <p:cNvPr id="11" name="Picture 30" descr="Text&#10;&#10;Description automatically generated">
            <a:extLst>
              <a:ext uri="{FF2B5EF4-FFF2-40B4-BE49-F238E27FC236}">
                <a16:creationId xmlns:a16="http://schemas.microsoft.com/office/drawing/2014/main" id="{034D35BE-C44A-447B-BBD7-5C6D40613E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5646" y="4905783"/>
            <a:ext cx="3343275" cy="609600"/>
          </a:xfrm>
          <a:prstGeom prst="rect">
            <a:avLst/>
          </a:prstGeom>
        </p:spPr>
      </p:pic>
      <p:pic>
        <p:nvPicPr>
          <p:cNvPr id="12" name="Picture 40">
            <a:extLst>
              <a:ext uri="{FF2B5EF4-FFF2-40B4-BE49-F238E27FC236}">
                <a16:creationId xmlns:a16="http://schemas.microsoft.com/office/drawing/2014/main" id="{9E3844B7-9FB4-4EC3-B021-7666C8705B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943" y="4652290"/>
            <a:ext cx="3571875" cy="361950"/>
          </a:xfrm>
          <a:prstGeom prst="rect">
            <a:avLst/>
          </a:prstGeom>
        </p:spPr>
      </p:pic>
      <p:pic>
        <p:nvPicPr>
          <p:cNvPr id="13" name="Slika 12" descr="Slika, ki vsebuje besede besedilo&#10;&#10;Opis je samodejno ustvarjen">
            <a:extLst>
              <a:ext uri="{FF2B5EF4-FFF2-40B4-BE49-F238E27FC236}">
                <a16:creationId xmlns:a16="http://schemas.microsoft.com/office/drawing/2014/main" id="{7E163A39-C47C-4ABB-8365-825A3596D2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943" y="4969530"/>
            <a:ext cx="3743325" cy="600075"/>
          </a:xfrm>
          <a:prstGeom prst="rect">
            <a:avLst/>
          </a:prstGeom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C0305A5C-8631-4428-868E-2FC70A2C84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0587" y="3673646"/>
            <a:ext cx="4867275" cy="647700"/>
          </a:xfrm>
          <a:prstGeom prst="rect">
            <a:avLst/>
          </a:prstGeom>
        </p:spPr>
      </p:pic>
      <p:pic>
        <p:nvPicPr>
          <p:cNvPr id="19" name="Slika 18">
            <a:extLst>
              <a:ext uri="{FF2B5EF4-FFF2-40B4-BE49-F238E27FC236}">
                <a16:creationId xmlns:a16="http://schemas.microsoft.com/office/drawing/2014/main" id="{EF5E848B-295A-44F2-9B66-D5AFFC6585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9285C982-D10D-4F3A-8964-EB41CAA88E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5039" y="5003687"/>
            <a:ext cx="3389889" cy="648378"/>
          </a:xfrm>
          <a:prstGeom prst="rect">
            <a:avLst/>
          </a:prstGeom>
        </p:spPr>
      </p:pic>
      <p:pic>
        <p:nvPicPr>
          <p:cNvPr id="15" name="Slika 14" descr="Slika, ki vsebuje besede besedilo&#10;&#10;Opis je samodejno ustvarjen">
            <a:extLst>
              <a:ext uri="{FF2B5EF4-FFF2-40B4-BE49-F238E27FC236}">
                <a16:creationId xmlns:a16="http://schemas.microsoft.com/office/drawing/2014/main" id="{A72A30FA-8B45-42DA-8F3F-0D95941C3C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0943" y="3540166"/>
            <a:ext cx="4514574" cy="9849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D8633-541B-420F-A173-E1948BC3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12</a:t>
            </a:fld>
            <a:endParaRPr lang="sl-SI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B04AA810-EACD-4DFC-9DCC-E0C6931238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66090" y="2528646"/>
            <a:ext cx="3314700" cy="9810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B128B0-9571-44D7-B9CE-E88D69E62580}"/>
              </a:ext>
            </a:extLst>
          </p:cNvPr>
          <p:cNvSpPr txBox="1"/>
          <p:nvPr/>
        </p:nvSpPr>
        <p:spPr>
          <a:xfrm>
            <a:off x="209177" y="5754271"/>
            <a:ext cx="1255776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(2012).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nonstationary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3(2), 65–79. </a:t>
            </a:r>
          </a:p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17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Soleimani-B, H., Lucas, C.,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Araabi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B. N. (2010). Recursive Gath-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Geva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clustering as a basis for evolving neuro-fuzzy modeling. Evolving Systems, 1(1), 59–71.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21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Sayed-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Mouchaweh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M. (2015). Autonomous data stream clustering implementing split-and-merge concepts – Towards a plug-and-play approach. Information Sciences, 304, 54–79.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E. Lima, M. Hell, R.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F.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Evolving fuzzy modeling using participatory learning, in: P.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N.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Kasabov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(Eds.),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EvolvingIntelligent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Systems: Methodology and Applications, John Wiley &amp; Sons, New York, 2010, pp. 67–86.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24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Bouchot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J. L., &amp; Shaker, A. (2011). On-line elimination of local redundancies in evolving fuzzy systems. Evolving Systems, 2(3), 165–187.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25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Andonovski, G.,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I. (2021). Evolving Fuzzy Model Identification of Nonlinear Wiener-Hammerstein Processes. IEEE Access, 9, 158470–158480.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452116-F20B-4A02-9989-42FA516F9C32}"/>
              </a:ext>
            </a:extLst>
          </p:cNvPr>
          <p:cNvSpPr txBox="1"/>
          <p:nvPr/>
        </p:nvSpPr>
        <p:spPr>
          <a:xfrm>
            <a:off x="11713464" y="4079469"/>
            <a:ext cx="478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723EA9-2429-41B9-BF85-7F9D3838A522}"/>
              </a:ext>
            </a:extLst>
          </p:cNvPr>
          <p:cNvSpPr txBox="1"/>
          <p:nvPr/>
        </p:nvSpPr>
        <p:spPr>
          <a:xfrm>
            <a:off x="3701677" y="4758455"/>
            <a:ext cx="5047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ADFAA0-B187-4503-99F2-C8B170DB90F5}"/>
              </a:ext>
            </a:extLst>
          </p:cNvPr>
          <p:cNvSpPr txBox="1"/>
          <p:nvPr/>
        </p:nvSpPr>
        <p:spPr>
          <a:xfrm>
            <a:off x="11008036" y="5282733"/>
            <a:ext cx="4903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310FE1-71B5-470A-94BF-B02F44F521E0}"/>
              </a:ext>
            </a:extLst>
          </p:cNvPr>
          <p:cNvSpPr txBox="1"/>
          <p:nvPr/>
        </p:nvSpPr>
        <p:spPr>
          <a:xfrm>
            <a:off x="7523211" y="5384939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17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F071EA-5A8B-4EBF-88CF-F970AA07C535}"/>
              </a:ext>
            </a:extLst>
          </p:cNvPr>
          <p:cNvSpPr txBox="1"/>
          <p:nvPr/>
        </p:nvSpPr>
        <p:spPr>
          <a:xfrm>
            <a:off x="3746070" y="5349622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25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2F104D-3BDC-4009-A8B4-BC5D995A7E3A}"/>
              </a:ext>
            </a:extLst>
          </p:cNvPr>
          <p:cNvSpPr txBox="1"/>
          <p:nvPr/>
        </p:nvSpPr>
        <p:spPr>
          <a:xfrm>
            <a:off x="6189430" y="4716815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17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A69E5A-4D79-4FEE-9A97-C1709B603EA5}"/>
              </a:ext>
            </a:extLst>
          </p:cNvPr>
          <p:cNvSpPr txBox="1"/>
          <p:nvPr/>
        </p:nvSpPr>
        <p:spPr>
          <a:xfrm>
            <a:off x="9597469" y="4025172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0D3AC9-A709-46C8-B3A1-C86C654E21A4}"/>
              </a:ext>
            </a:extLst>
          </p:cNvPr>
          <p:cNvSpPr txBox="1"/>
          <p:nvPr/>
        </p:nvSpPr>
        <p:spPr>
          <a:xfrm>
            <a:off x="11305445" y="3148544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CEFF3A-E716-4D9A-BFBE-BFE220F3D813}"/>
              </a:ext>
            </a:extLst>
          </p:cNvPr>
          <p:cNvSpPr txBox="1"/>
          <p:nvPr/>
        </p:nvSpPr>
        <p:spPr>
          <a:xfrm>
            <a:off x="4521508" y="4067697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21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B52FA7-17FE-49C2-A775-E0286C0BE027}"/>
              </a:ext>
            </a:extLst>
          </p:cNvPr>
          <p:cNvSpPr txBox="1"/>
          <p:nvPr/>
        </p:nvSpPr>
        <p:spPr>
          <a:xfrm>
            <a:off x="10931704" y="4581795"/>
            <a:ext cx="593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24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1684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DD53BE2-3A1A-408D-AF5E-B16509C2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Združevanje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7BDED3-60BE-4F4C-8872-B171FE820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ekurzivno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uteženo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povprečje središč in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kovariančnih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matrik rojev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3,</a:t>
            </a:r>
          </a:p>
          <a:p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2,26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konveksna ovojnica (</a:t>
            </a:r>
            <a:r>
              <a:rPr lang="sl-SI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convex</a:t>
            </a:r>
            <a:r>
              <a:rPr lang="sl-SI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hull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granul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27,11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sl-SI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05AE727E-5F2F-448B-B67B-8E426C9AD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8155" y="1609775"/>
            <a:ext cx="2400300" cy="1368799"/>
          </a:xfrm>
          <a:prstGeom prst="rect">
            <a:avLst/>
          </a:prstGeom>
        </p:spPr>
      </p:pic>
      <p:pic>
        <p:nvPicPr>
          <p:cNvPr id="5" name="Slika 4" descr="Slika, ki vsebuje besede besedilo, ura&#10;&#10;Opis je samodejno ustvarjen">
            <a:extLst>
              <a:ext uri="{FF2B5EF4-FFF2-40B4-BE49-F238E27FC236}">
                <a16:creationId xmlns:a16="http://schemas.microsoft.com/office/drawing/2014/main" id="{4C194844-4B49-488E-95FC-55F500B72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542" y="2958642"/>
            <a:ext cx="4274976" cy="498358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D299FABD-8B15-4E2C-B0B2-06D58E3334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4509" y="3538964"/>
            <a:ext cx="3690594" cy="382301"/>
          </a:xfrm>
          <a:prstGeom prst="rect">
            <a:avLst/>
          </a:prstGeom>
        </p:spPr>
      </p:pic>
      <p:pic>
        <p:nvPicPr>
          <p:cNvPr id="7" name="Picture 41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B8D96EC5-A7EA-4DD7-9156-AA907DF54D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4883" y="3042666"/>
            <a:ext cx="4377162" cy="1244651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61AB9704-DDE9-431A-8EAA-398DAB228C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4" name="Slika 13">
            <a:extLst>
              <a:ext uri="{FF2B5EF4-FFF2-40B4-BE49-F238E27FC236}">
                <a16:creationId xmlns:a16="http://schemas.microsoft.com/office/drawing/2014/main" id="{5CCB4BE9-CBDD-45AF-AA81-7DCEE4C1DE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957" y="4328654"/>
            <a:ext cx="3781425" cy="198141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8E6C9B-9B91-4745-BD30-B8FE96C6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13</a:t>
            </a:fld>
            <a:endParaRPr lang="sl-SI"/>
          </a:p>
        </p:txBody>
      </p:sp>
      <p:pic>
        <p:nvPicPr>
          <p:cNvPr id="18" name="Slika 17">
            <a:extLst>
              <a:ext uri="{FF2B5EF4-FFF2-40B4-BE49-F238E27FC236}">
                <a16:creationId xmlns:a16="http://schemas.microsoft.com/office/drawing/2014/main" id="{D8221DEE-20B2-42A7-95A7-353C353DA5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10382" y="4663450"/>
            <a:ext cx="1726798" cy="1358524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1A77BCA0-EEE7-4F69-8A51-C23D6C7089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820" y="2910962"/>
            <a:ext cx="3227599" cy="1638304"/>
          </a:xfrm>
          <a:prstGeom prst="rect">
            <a:avLst/>
          </a:prstGeom>
        </p:spPr>
      </p:pic>
      <p:sp>
        <p:nvSpPr>
          <p:cNvPr id="19" name="PoljeZBesedilom 18">
            <a:extLst>
              <a:ext uri="{FF2B5EF4-FFF2-40B4-BE49-F238E27FC236}">
                <a16:creationId xmlns:a16="http://schemas.microsoft.com/office/drawing/2014/main" id="{CADD5001-A18F-4BF1-B595-346D270DD558}"/>
              </a:ext>
            </a:extLst>
          </p:cNvPr>
          <p:cNvSpPr txBox="1"/>
          <p:nvPr/>
        </p:nvSpPr>
        <p:spPr>
          <a:xfrm>
            <a:off x="434419" y="5135195"/>
            <a:ext cx="58266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I. (2020). Cluster-Volume-Based Merging Approach for Incrementally Evolving Fuzzy Gaussian Clustering-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eGAUSS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+. IEEE Transactions on Fuzzy Systems, 28(9), 2222–2231.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(2012).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nonstationary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3(2), 65–79. </a:t>
            </a: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[26] Pratama, M.,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Anavatti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S. G.,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(2014).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Genefis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Toward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effective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localist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network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22(3), 547–562.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27]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Garcia, C.,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Missing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Imputation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28(10), 2348–2362. </a:t>
            </a:r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EEB6E38A-B324-425B-A7E6-5ED8994D4796}"/>
              </a:ext>
            </a:extLst>
          </p:cNvPr>
          <p:cNvSpPr txBox="1"/>
          <p:nvPr/>
        </p:nvSpPr>
        <p:spPr>
          <a:xfrm>
            <a:off x="2894775" y="4269628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26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dirty="0"/>
          </a:p>
        </p:txBody>
      </p:sp>
      <p:sp>
        <p:nvSpPr>
          <p:cNvPr id="21" name="PoljeZBesedilom 20">
            <a:extLst>
              <a:ext uri="{FF2B5EF4-FFF2-40B4-BE49-F238E27FC236}">
                <a16:creationId xmlns:a16="http://schemas.microsoft.com/office/drawing/2014/main" id="{4CC39A68-71EF-4C6F-93D6-0715F89D1241}"/>
              </a:ext>
            </a:extLst>
          </p:cNvPr>
          <p:cNvSpPr txBox="1"/>
          <p:nvPr/>
        </p:nvSpPr>
        <p:spPr>
          <a:xfrm>
            <a:off x="7645813" y="4125867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[3] </a:t>
            </a:r>
            <a:endParaRPr lang="sl-SI" dirty="0"/>
          </a:p>
        </p:txBody>
      </p:sp>
      <p:sp>
        <p:nvSpPr>
          <p:cNvPr id="22" name="PoljeZBesedilom 21">
            <a:extLst>
              <a:ext uri="{FF2B5EF4-FFF2-40B4-BE49-F238E27FC236}">
                <a16:creationId xmlns:a16="http://schemas.microsoft.com/office/drawing/2014/main" id="{0447E4F2-8716-4FA2-B427-ACEE334300CC}"/>
              </a:ext>
            </a:extLst>
          </p:cNvPr>
          <p:cNvSpPr txBox="1"/>
          <p:nvPr/>
        </p:nvSpPr>
        <p:spPr>
          <a:xfrm>
            <a:off x="11690914" y="3788761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dirty="0"/>
          </a:p>
        </p:txBody>
      </p:sp>
      <p:sp>
        <p:nvSpPr>
          <p:cNvPr id="24" name="PoljeZBesedilom 23">
            <a:extLst>
              <a:ext uri="{FF2B5EF4-FFF2-40B4-BE49-F238E27FC236}">
                <a16:creationId xmlns:a16="http://schemas.microsoft.com/office/drawing/2014/main" id="{9D09225A-910B-442F-8D11-03A7C434E191}"/>
              </a:ext>
            </a:extLst>
          </p:cNvPr>
          <p:cNvSpPr txBox="1"/>
          <p:nvPr/>
        </p:nvSpPr>
        <p:spPr>
          <a:xfrm>
            <a:off x="10009099" y="5963876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[27] </a:t>
            </a:r>
            <a:endParaRPr lang="sl-SI" dirty="0"/>
          </a:p>
        </p:txBody>
      </p:sp>
      <p:sp>
        <p:nvSpPr>
          <p:cNvPr id="26" name="PoljeZBesedilom 25">
            <a:extLst>
              <a:ext uri="{FF2B5EF4-FFF2-40B4-BE49-F238E27FC236}">
                <a16:creationId xmlns:a16="http://schemas.microsoft.com/office/drawing/2014/main" id="{8CD1597B-473A-40F6-8BBE-C7794A5B100D}"/>
              </a:ext>
            </a:extLst>
          </p:cNvPr>
          <p:cNvSpPr txBox="1"/>
          <p:nvPr/>
        </p:nvSpPr>
        <p:spPr>
          <a:xfrm>
            <a:off x="11690914" y="5914803"/>
            <a:ext cx="682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22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8495751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538893-6351-49B8-BAF9-656D373F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Razcep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F43D92A-C5DA-4436-A6F4-4FE1EACAF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864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l-SI" sz="1800" b="1" dirty="0"/>
              <a:t>Neprimerni parametri združevanja, lezenje parametrov </a:t>
            </a:r>
            <a:r>
              <a:rPr lang="sl-SI" sz="1800" dirty="0"/>
              <a:t>in </a:t>
            </a:r>
            <a:r>
              <a:rPr lang="sl-SI" sz="1800" b="1" dirty="0"/>
              <a:t>konceptualni pomiki </a:t>
            </a:r>
            <a:r>
              <a:rPr lang="sl-SI" sz="1800" dirty="0"/>
              <a:t>v toku podatkov, potreba po </a:t>
            </a:r>
            <a:r>
              <a:rPr lang="sl-SI" sz="1800" b="1" dirty="0"/>
              <a:t>natančnejšem deljenju prostora </a:t>
            </a:r>
            <a:r>
              <a:rPr lang="sl-SI" sz="1800" dirty="0"/>
              <a:t>idr.</a:t>
            </a:r>
          </a:p>
          <a:p>
            <a:pPr marL="0" indent="0">
              <a:buNone/>
            </a:pPr>
            <a:r>
              <a:rPr lang="sl-SI" sz="1800" dirty="0"/>
              <a:t> </a:t>
            </a:r>
          </a:p>
          <a:p>
            <a:r>
              <a:rPr lang="sl-SI" sz="1800" b="1" dirty="0"/>
              <a:t>akumulirana relativna napaka </a:t>
            </a:r>
            <a:r>
              <a:rPr lang="sl-SI" sz="1800" dirty="0"/>
              <a:t>[3],</a:t>
            </a:r>
          </a:p>
          <a:p>
            <a:r>
              <a:rPr lang="sl-SI" sz="1800" b="1" dirty="0"/>
              <a:t>prekrivanje rojev, </a:t>
            </a:r>
            <a:r>
              <a:rPr lang="sl-SI" sz="1800" b="1" dirty="0" err="1"/>
              <a:t>Welchejev</a:t>
            </a:r>
            <a:r>
              <a:rPr lang="sl-SI" sz="1800" b="1" dirty="0"/>
              <a:t> T-test (</a:t>
            </a:r>
            <a:r>
              <a:rPr lang="sl-SI" sz="1800" b="1" dirty="0" err="1"/>
              <a:t>Welch</a:t>
            </a:r>
            <a:r>
              <a:rPr lang="sl-SI" sz="1800" b="1" dirty="0"/>
              <a:t> T-test)</a:t>
            </a:r>
            <a:r>
              <a:rPr lang="en-US" sz="1800" dirty="0"/>
              <a:t>[</a:t>
            </a:r>
            <a:r>
              <a:rPr lang="sl-SI" sz="1800" dirty="0"/>
              <a:t>21</a:t>
            </a:r>
            <a:r>
              <a:rPr lang="en-US" sz="1800" dirty="0"/>
              <a:t>]</a:t>
            </a:r>
            <a:r>
              <a:rPr lang="sl-SI" sz="1800" dirty="0"/>
              <a:t>, </a:t>
            </a:r>
            <a:r>
              <a:rPr lang="sl-SI" sz="1800" b="1" dirty="0" err="1"/>
              <a:t>Bayesov</a:t>
            </a:r>
            <a:r>
              <a:rPr lang="sl-SI" sz="1800" b="1" dirty="0"/>
              <a:t> informacijski kriterij </a:t>
            </a:r>
            <a:r>
              <a:rPr lang="sl-SI" sz="1800" dirty="0"/>
              <a:t>(</a:t>
            </a:r>
            <a:r>
              <a:rPr lang="en-US" sz="1800" dirty="0"/>
              <a:t>Bayesian information criterion</a:t>
            </a:r>
            <a:r>
              <a:rPr lang="sl-SI" sz="1800" dirty="0"/>
              <a:t>)</a:t>
            </a:r>
            <a:r>
              <a:rPr lang="en-US" sz="1800" dirty="0"/>
              <a:t> </a:t>
            </a:r>
            <a:r>
              <a:rPr lang="sl-SI" sz="1800" dirty="0"/>
              <a:t>[21, 27], </a:t>
            </a:r>
            <a:r>
              <a:rPr lang="sl-SI" sz="1800" b="1" dirty="0" err="1"/>
              <a:t>partition</a:t>
            </a:r>
            <a:r>
              <a:rPr lang="sl-SI" sz="1800" b="1" dirty="0"/>
              <a:t> </a:t>
            </a:r>
            <a:r>
              <a:rPr lang="sl-SI" sz="1800" b="1" dirty="0" err="1"/>
              <a:t>separation</a:t>
            </a:r>
            <a:r>
              <a:rPr lang="sl-SI" sz="1800" b="1" dirty="0"/>
              <a:t> </a:t>
            </a:r>
            <a:r>
              <a:rPr lang="sl-SI" sz="1800" b="1" dirty="0" err="1"/>
              <a:t>index</a:t>
            </a:r>
            <a:r>
              <a:rPr lang="sl-SI" sz="1800" b="1" dirty="0"/>
              <a:t> </a:t>
            </a:r>
            <a:r>
              <a:rPr lang="sl-SI" sz="1800" dirty="0"/>
              <a:t>[22] idr. </a:t>
            </a:r>
          </a:p>
          <a:p>
            <a:endParaRPr lang="sl-SI" dirty="0"/>
          </a:p>
        </p:txBody>
      </p:sp>
      <p:pic>
        <p:nvPicPr>
          <p:cNvPr id="4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36793C1F-057D-4B6B-9D4A-9F59918B8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418084"/>
            <a:ext cx="2232660" cy="676275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D2C874A5-9A3A-423F-80E9-B6066E1F2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110" y="3268645"/>
            <a:ext cx="2343150" cy="752475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D55EECF9-C2AE-49D0-9E53-EC859609BA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15621-BC18-49F0-A004-F4F392BA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14</a:t>
            </a:fld>
            <a:endParaRPr lang="sl-SI" dirty="0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4CE520FE-C4F6-43B8-B031-17947DA23B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803" y="4449003"/>
            <a:ext cx="4165293" cy="937030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2996BBE6-449F-40ED-A9B1-36B3DCF478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732" y="4164878"/>
            <a:ext cx="3467100" cy="857250"/>
          </a:xfrm>
          <a:prstGeom prst="rect">
            <a:avLst/>
          </a:prstGeom>
        </p:spPr>
      </p:pic>
      <p:pic>
        <p:nvPicPr>
          <p:cNvPr id="18" name="Slika 17">
            <a:extLst>
              <a:ext uri="{FF2B5EF4-FFF2-40B4-BE49-F238E27FC236}">
                <a16:creationId xmlns:a16="http://schemas.microsoft.com/office/drawing/2014/main" id="{93682EC8-A214-42AB-9C93-DB4608C518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0600" y="2161034"/>
            <a:ext cx="3081151" cy="365126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90C3A944-1147-4C9D-95F1-94FE4D6DDF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7667" y="4861390"/>
            <a:ext cx="1846165" cy="1154835"/>
          </a:xfrm>
          <a:prstGeom prst="rect">
            <a:avLst/>
          </a:prstGeom>
        </p:spPr>
      </p:pic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659BB0DD-E54D-45D6-981F-495B4591D76A}"/>
              </a:ext>
            </a:extLst>
          </p:cNvPr>
          <p:cNvSpPr txBox="1"/>
          <p:nvPr/>
        </p:nvSpPr>
        <p:spPr>
          <a:xfrm>
            <a:off x="101600" y="6075144"/>
            <a:ext cx="10741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[3] Dovžan, D., Logar, V., &amp; Škrjanc, I. (2015).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Implementation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Model (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) in a Monitoring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Waste-Water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Treatment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23(5), 1761–1776.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Sayed-Mouchaweh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M. (2015).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implementing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split-and-merge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concepts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Towards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a plug-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play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304, 54–79.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[22]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(2008).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Extensions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vector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quantization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Pattern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Recognition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41(3), 995–1011.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[27] Garcia, C.,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Missing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Imputation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28(10), 2348–2362. </a:t>
            </a:r>
          </a:p>
        </p:txBody>
      </p:sp>
      <p:sp>
        <p:nvSpPr>
          <p:cNvPr id="15" name="PoljeZBesedilom 14">
            <a:extLst>
              <a:ext uri="{FF2B5EF4-FFF2-40B4-BE49-F238E27FC236}">
                <a16:creationId xmlns:a16="http://schemas.microsoft.com/office/drawing/2014/main" id="{B66F7651-EB00-4AF5-A215-D37F5B5259D7}"/>
              </a:ext>
            </a:extLst>
          </p:cNvPr>
          <p:cNvSpPr txBox="1"/>
          <p:nvPr/>
        </p:nvSpPr>
        <p:spPr>
          <a:xfrm>
            <a:off x="11515733" y="2299905"/>
            <a:ext cx="444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[3] </a:t>
            </a:r>
            <a:endParaRPr lang="sl-SI" sz="1400" dirty="0"/>
          </a:p>
        </p:txBody>
      </p:sp>
      <p:sp>
        <p:nvSpPr>
          <p:cNvPr id="17" name="PoljeZBesedilom 16">
            <a:extLst>
              <a:ext uri="{FF2B5EF4-FFF2-40B4-BE49-F238E27FC236}">
                <a16:creationId xmlns:a16="http://schemas.microsoft.com/office/drawing/2014/main" id="{77150E8D-6E5A-4C36-A15E-68BF3B1337EC}"/>
              </a:ext>
            </a:extLst>
          </p:cNvPr>
          <p:cNvSpPr txBox="1"/>
          <p:nvPr/>
        </p:nvSpPr>
        <p:spPr>
          <a:xfrm>
            <a:off x="3942690" y="5632430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[22] </a:t>
            </a:r>
          </a:p>
        </p:txBody>
      </p:sp>
      <p:sp>
        <p:nvSpPr>
          <p:cNvPr id="19" name="PoljeZBesedilom 18">
            <a:extLst>
              <a:ext uri="{FF2B5EF4-FFF2-40B4-BE49-F238E27FC236}">
                <a16:creationId xmlns:a16="http://schemas.microsoft.com/office/drawing/2014/main" id="{2B75B386-0979-4657-9906-858708464A9F}"/>
              </a:ext>
            </a:extLst>
          </p:cNvPr>
          <p:cNvSpPr txBox="1"/>
          <p:nvPr/>
        </p:nvSpPr>
        <p:spPr>
          <a:xfrm>
            <a:off x="10666369" y="3637537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[21] </a:t>
            </a:r>
          </a:p>
        </p:txBody>
      </p:sp>
      <p:sp>
        <p:nvSpPr>
          <p:cNvPr id="21" name="PoljeZBesedilom 20">
            <a:extLst>
              <a:ext uri="{FF2B5EF4-FFF2-40B4-BE49-F238E27FC236}">
                <a16:creationId xmlns:a16="http://schemas.microsoft.com/office/drawing/2014/main" id="{A6A300C9-CB27-410E-84D8-3ECA5F29B146}"/>
              </a:ext>
            </a:extLst>
          </p:cNvPr>
          <p:cNvSpPr txBox="1"/>
          <p:nvPr/>
        </p:nvSpPr>
        <p:spPr>
          <a:xfrm>
            <a:off x="8961253" y="5195406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[27] </a:t>
            </a:r>
          </a:p>
        </p:txBody>
      </p:sp>
    </p:spTree>
    <p:extLst>
      <p:ext uri="{BB962C8B-B14F-4D97-AF65-F5344CB8AC3E}">
        <p14:creationId xmlns:p14="http://schemas.microsoft.com/office/powerpoint/2010/main" val="34614122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ADE6F06D-CBC0-4C63-81F2-CF0BE62BD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Razcep rojev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56187702-45A0-47FE-A28D-88475E6114A6}"/>
              </a:ext>
            </a:extLst>
          </p:cNvPr>
          <p:cNvSpPr txBox="1"/>
          <p:nvPr/>
        </p:nvSpPr>
        <p:spPr>
          <a:xfrm>
            <a:off x="630936" y="2807208"/>
            <a:ext cx="6099048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Hranjenje</a:t>
            </a:r>
            <a:r>
              <a:rPr lang="en-US" sz="2000" b="1" dirty="0"/>
              <a:t> </a:t>
            </a:r>
            <a:r>
              <a:rPr lang="en-US" sz="2000" b="1" dirty="0" err="1"/>
              <a:t>dodatnih</a:t>
            </a:r>
            <a:r>
              <a:rPr lang="en-US" sz="2000" b="1" dirty="0"/>
              <a:t> </a:t>
            </a:r>
            <a:r>
              <a:rPr lang="sl-SI" sz="2000" b="1" dirty="0"/>
              <a:t>struktur</a:t>
            </a:r>
            <a:r>
              <a:rPr lang="en-US" sz="2000" b="1" dirty="0"/>
              <a:t> </a:t>
            </a:r>
            <a:r>
              <a:rPr lang="en-US" sz="2000" dirty="0" err="1"/>
              <a:t>znotraj</a:t>
            </a:r>
            <a:r>
              <a:rPr lang="en-US" sz="2000" dirty="0"/>
              <a:t> </a:t>
            </a:r>
            <a:r>
              <a:rPr lang="en-US" sz="2000" dirty="0" err="1"/>
              <a:t>rojev</a:t>
            </a:r>
            <a:r>
              <a:rPr lang="en-US" sz="2000" dirty="0"/>
              <a:t> (Gaussian mixture model) [</a:t>
            </a:r>
            <a:r>
              <a:rPr lang="sl-SI" sz="2000" dirty="0"/>
              <a:t>27</a:t>
            </a:r>
            <a:r>
              <a:rPr lang="en-US" sz="2000" dirty="0"/>
              <a:t>]</a:t>
            </a:r>
            <a:r>
              <a:rPr lang="sl-SI" sz="2000" dirty="0"/>
              <a:t>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l-SI" sz="2000" dirty="0"/>
              <a:t>D</a:t>
            </a:r>
            <a:r>
              <a:rPr lang="en-US" sz="2000" dirty="0" err="1"/>
              <a:t>eljenje</a:t>
            </a:r>
            <a:r>
              <a:rPr lang="en-US" sz="2000" dirty="0"/>
              <a:t> </a:t>
            </a:r>
            <a:r>
              <a:rPr lang="en-US" sz="2000" dirty="0" err="1"/>
              <a:t>roja</a:t>
            </a:r>
            <a:r>
              <a:rPr lang="en-US" sz="2000" dirty="0"/>
              <a:t> v </a:t>
            </a:r>
            <a:r>
              <a:rPr lang="en-US" sz="2000" dirty="0" err="1"/>
              <a:t>smeri</a:t>
            </a:r>
            <a:r>
              <a:rPr lang="en-US" sz="2000" dirty="0"/>
              <a:t> </a:t>
            </a:r>
            <a:r>
              <a:rPr lang="en-US" sz="2000" b="1" dirty="0" err="1"/>
              <a:t>največje</a:t>
            </a:r>
            <a:r>
              <a:rPr lang="en-US" sz="2000" b="1" dirty="0"/>
              <a:t> </a:t>
            </a:r>
            <a:r>
              <a:rPr lang="en-US" sz="2000" b="1" dirty="0" err="1"/>
              <a:t>lastne</a:t>
            </a:r>
            <a:r>
              <a:rPr lang="en-US" sz="2000" b="1" dirty="0"/>
              <a:t> </a:t>
            </a:r>
            <a:r>
              <a:rPr lang="en-US" sz="2000" b="1" dirty="0" err="1"/>
              <a:t>vrednosti</a:t>
            </a:r>
            <a:r>
              <a:rPr lang="en-US" sz="2000" b="1" dirty="0"/>
              <a:t> in </a:t>
            </a:r>
            <a:r>
              <a:rPr lang="en-US" sz="2000" b="1" dirty="0" err="1"/>
              <a:t>postavitev</a:t>
            </a:r>
            <a:r>
              <a:rPr lang="en-US" sz="2000" b="1" dirty="0"/>
              <a:t> </a:t>
            </a:r>
            <a:r>
              <a:rPr lang="en-US" sz="2000" b="1" dirty="0" err="1"/>
              <a:t>kovariančne</a:t>
            </a:r>
            <a:r>
              <a:rPr lang="en-US" sz="2000" b="1" dirty="0"/>
              <a:t> </a:t>
            </a:r>
            <a:r>
              <a:rPr lang="en-US" sz="2000" b="1" dirty="0" err="1"/>
              <a:t>matrike</a:t>
            </a:r>
            <a:r>
              <a:rPr lang="en-US" sz="2000" dirty="0"/>
              <a:t>, </a:t>
            </a:r>
            <a:r>
              <a:rPr lang="en-US" sz="2000" b="1" dirty="0" err="1"/>
              <a:t>števila</a:t>
            </a:r>
            <a:r>
              <a:rPr lang="en-US" sz="2000" b="1" dirty="0"/>
              <a:t> </a:t>
            </a:r>
            <a:r>
              <a:rPr lang="en-US" sz="2000" b="1" dirty="0" err="1"/>
              <a:t>delcev</a:t>
            </a:r>
            <a:r>
              <a:rPr lang="en-US" sz="2000" b="1" dirty="0"/>
              <a:t> </a:t>
            </a:r>
            <a:r>
              <a:rPr lang="en-US" sz="2000" b="1" dirty="0" err="1"/>
              <a:t>na</a:t>
            </a:r>
            <a:r>
              <a:rPr lang="en-US" sz="2000" b="1" dirty="0"/>
              <a:t> </a:t>
            </a:r>
            <a:r>
              <a:rPr lang="en-US" sz="2000" b="1" dirty="0" err="1"/>
              <a:t>polovico</a:t>
            </a:r>
            <a:r>
              <a:rPr lang="sl-SI" sz="2000" dirty="0"/>
              <a:t> [3,22]</a:t>
            </a:r>
            <a:r>
              <a:rPr lang="en-US" sz="2000" dirty="0"/>
              <a:t>. 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Nekateri</a:t>
            </a:r>
            <a:r>
              <a:rPr lang="en-US" sz="2000" dirty="0"/>
              <a:t> </a:t>
            </a:r>
            <a:r>
              <a:rPr lang="sl-SI" sz="2000" dirty="0" err="1"/>
              <a:t>samorazvijajoči</a:t>
            </a:r>
            <a:r>
              <a:rPr lang="sl-SI" sz="2000" dirty="0"/>
              <a:t> sistemi</a:t>
            </a:r>
            <a:r>
              <a:rPr lang="en-US" sz="2000" dirty="0"/>
              <a:t> </a:t>
            </a:r>
            <a:r>
              <a:rPr lang="en-US" sz="2000" dirty="0" err="1"/>
              <a:t>primerjajo</a:t>
            </a:r>
            <a:r>
              <a:rPr lang="en-US" sz="2000" dirty="0"/>
              <a:t> </a:t>
            </a:r>
            <a:r>
              <a:rPr lang="en-US" sz="2000" dirty="0" err="1"/>
              <a:t>kvaliteto</a:t>
            </a:r>
            <a:r>
              <a:rPr lang="en-US" sz="2000" dirty="0"/>
              <a:t> </a:t>
            </a:r>
            <a:r>
              <a:rPr lang="en-US" sz="2000" dirty="0" err="1"/>
              <a:t>modela</a:t>
            </a:r>
            <a:r>
              <a:rPr lang="en-US" sz="2000" dirty="0"/>
              <a:t> pred in po </a:t>
            </a:r>
            <a:r>
              <a:rPr lang="en-US" sz="2000" dirty="0" err="1"/>
              <a:t>spremembi</a:t>
            </a:r>
            <a:r>
              <a:rPr lang="en-US" sz="2000" dirty="0"/>
              <a:t> </a:t>
            </a:r>
            <a:r>
              <a:rPr lang="en-US" sz="2000" dirty="0" err="1"/>
              <a:t>strukture</a:t>
            </a:r>
            <a:r>
              <a:rPr lang="en-US" sz="2000" dirty="0"/>
              <a:t> [</a:t>
            </a:r>
            <a:r>
              <a:rPr lang="sl-SI" sz="2000" dirty="0"/>
              <a:t>19</a:t>
            </a:r>
            <a:r>
              <a:rPr lang="en-US" sz="2000" dirty="0"/>
              <a:t>]. </a:t>
            </a:r>
          </a:p>
        </p:txBody>
      </p:sp>
      <p:pic>
        <p:nvPicPr>
          <p:cNvPr id="16" name="Označba mesta vsebine 5">
            <a:extLst>
              <a:ext uri="{FF2B5EF4-FFF2-40B4-BE49-F238E27FC236}">
                <a16:creationId xmlns:a16="http://schemas.microsoft.com/office/drawing/2014/main" id="{D1666D87-9A10-419E-B128-18E00B231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059357" y="3257465"/>
            <a:ext cx="4294443" cy="2125748"/>
          </a:xfrm>
          <a:prstGeom prst="rect">
            <a:avLst/>
          </a:prstGeom>
        </p:spPr>
      </p:pic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659A0EAC-3961-45B1-8498-74C49996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 dirty="0"/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42663209-40E7-4D5F-8D68-EB48F75F7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0204" y="2475622"/>
            <a:ext cx="4981575" cy="590550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E0D5EAF2-CA5F-4C44-A2F0-70321E4E8B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2A391543-806C-4A98-98B8-2FC8901204B2}"/>
              </a:ext>
            </a:extLst>
          </p:cNvPr>
          <p:cNvSpPr txBox="1"/>
          <p:nvPr/>
        </p:nvSpPr>
        <p:spPr>
          <a:xfrm>
            <a:off x="0" y="5962869"/>
            <a:ext cx="10597753" cy="649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9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</a:t>
            </a:r>
            <a:endParaRPr lang="sl-SI" sz="9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a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a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a typeface="Calibri" panose="020F0502020204030204" pitchFamily="34" charset="0"/>
                <a:cs typeface="Times New Roman" panose="02020603050405020304" pitchFamily="18" charset="0"/>
              </a:rPr>
              <a:t>27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PoljeZBesedilom 11">
            <a:extLst>
              <a:ext uri="{FF2B5EF4-FFF2-40B4-BE49-F238E27FC236}">
                <a16:creationId xmlns:a16="http://schemas.microsoft.com/office/drawing/2014/main" id="{F220E5E9-1191-46C3-9B1C-BCAE2949A659}"/>
              </a:ext>
            </a:extLst>
          </p:cNvPr>
          <p:cNvSpPr txBox="1"/>
          <p:nvPr/>
        </p:nvSpPr>
        <p:spPr>
          <a:xfrm>
            <a:off x="10794173" y="5234017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22]</a:t>
            </a:r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4384DDC9-1599-4223-AFAB-6C05DFACAD20}"/>
              </a:ext>
            </a:extLst>
          </p:cNvPr>
          <p:cNvSpPr txBox="1"/>
          <p:nvPr/>
        </p:nvSpPr>
        <p:spPr>
          <a:xfrm>
            <a:off x="11467687" y="2912283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3]</a:t>
            </a:r>
          </a:p>
        </p:txBody>
      </p:sp>
    </p:spTree>
    <p:extLst>
      <p:ext uri="{BB962C8B-B14F-4D97-AF65-F5344CB8AC3E}">
        <p14:creationId xmlns:p14="http://schemas.microsoft.com/office/powerpoint/2010/main" val="2361930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D5CB862-DD5F-49D0-8566-F38BA2AA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Odstranjevanje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2886D7A-D4E7-495E-908F-E15497B16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l-SI" sz="2000" dirty="0"/>
              <a:t>Odstranjevanje je potrebno izvesti pazljivo, saj </a:t>
            </a:r>
            <a:r>
              <a:rPr lang="sl-SI" sz="2000" b="1" dirty="0"/>
              <a:t>nočemo zavreči koristnih informaciji</a:t>
            </a:r>
            <a:r>
              <a:rPr lang="sl-SI" sz="2000" dirty="0"/>
              <a:t> [20]. Osamelce ne moremo vedno izločiti, saj si zelo podobni </a:t>
            </a:r>
            <a:r>
              <a:rPr lang="sl-SI" sz="2000" b="1" dirty="0"/>
              <a:t>cikličnim ali periodičnim pojavom</a:t>
            </a:r>
            <a:r>
              <a:rPr lang="sl-SI" sz="2000" dirty="0"/>
              <a:t>. Ti dogodki so zastopani z manjšim številom vzorcev, ki pa vsebujejo veliko informacije. </a:t>
            </a:r>
          </a:p>
          <a:p>
            <a:r>
              <a:rPr lang="sl-SI" sz="2000" b="1" dirty="0"/>
              <a:t>prekrivanje</a:t>
            </a:r>
            <a:r>
              <a:rPr lang="en-US" sz="2000" dirty="0"/>
              <a:t>, </a:t>
            </a:r>
            <a:endParaRPr lang="sl-SI" sz="2000" dirty="0"/>
          </a:p>
          <a:p>
            <a:r>
              <a:rPr lang="sl-SI" sz="2000" b="1" dirty="0"/>
              <a:t>starost</a:t>
            </a:r>
            <a:r>
              <a:rPr lang="sl-SI" sz="2000" dirty="0"/>
              <a:t> rojev [3,12]</a:t>
            </a:r>
            <a:r>
              <a:rPr lang="en-US" sz="2000" dirty="0"/>
              <a:t>,</a:t>
            </a:r>
            <a:r>
              <a:rPr lang="sl-SI" sz="2000" dirty="0"/>
              <a:t> </a:t>
            </a:r>
          </a:p>
          <a:p>
            <a:r>
              <a:rPr lang="sl-SI" sz="2000" b="1" dirty="0"/>
              <a:t>uporabnost</a:t>
            </a:r>
            <a:r>
              <a:rPr lang="en-US" sz="2000" dirty="0"/>
              <a:t> </a:t>
            </a:r>
            <a:r>
              <a:rPr lang="sl-SI" sz="2000" dirty="0"/>
              <a:t>(</a:t>
            </a:r>
            <a:r>
              <a:rPr lang="en-US" sz="2000" i="1" dirty="0"/>
              <a:t>utility</a:t>
            </a:r>
            <a:r>
              <a:rPr lang="sl-SI" sz="2000" dirty="0"/>
              <a:t>)</a:t>
            </a:r>
            <a:r>
              <a:rPr lang="en-US" sz="2000" dirty="0"/>
              <a:t> (</a:t>
            </a:r>
            <a:r>
              <a:rPr lang="sl-SI" sz="2000" dirty="0"/>
              <a:t>akumulirana relativna aktivacija</a:t>
            </a:r>
            <a:r>
              <a:rPr lang="en-US" sz="2000" dirty="0"/>
              <a:t>,</a:t>
            </a:r>
            <a:r>
              <a:rPr lang="sl-SI" sz="2000" dirty="0"/>
              <a:t> redka aktivacija</a:t>
            </a:r>
            <a:r>
              <a:rPr lang="en-US" sz="2000" dirty="0"/>
              <a:t>,</a:t>
            </a:r>
            <a:r>
              <a:rPr lang="sl-SI" sz="2000" dirty="0"/>
              <a:t> nepomembnost</a:t>
            </a:r>
            <a:r>
              <a:rPr lang="en-US" sz="2000" dirty="0"/>
              <a:t>) [</a:t>
            </a:r>
            <a:r>
              <a:rPr lang="sl-SI" sz="2000" dirty="0"/>
              <a:t>10</a:t>
            </a:r>
            <a:r>
              <a:rPr lang="sl-SI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2000" dirty="0"/>
              <a:t>12</a:t>
            </a:r>
            <a:r>
              <a:rPr lang="en-US" sz="2000" dirty="0"/>
              <a:t>,</a:t>
            </a:r>
            <a:r>
              <a:rPr lang="sl-SI" sz="2000" dirty="0"/>
              <a:t> 28</a:t>
            </a:r>
            <a:r>
              <a:rPr lang="en-US" sz="2000" dirty="0"/>
              <a:t>, </a:t>
            </a:r>
            <a:r>
              <a:rPr lang="sl-SI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en-US" sz="2000" dirty="0"/>
              <a:t>], </a:t>
            </a:r>
            <a:endParaRPr lang="sl-SI" sz="2000" dirty="0"/>
          </a:p>
          <a:p>
            <a:r>
              <a:rPr lang="sl-SI" sz="2000" b="1" dirty="0"/>
              <a:t>število pripadajočih vzorcev </a:t>
            </a:r>
            <a:r>
              <a:rPr lang="sl-SI" sz="2000" dirty="0"/>
              <a:t>[3,20] idr.</a:t>
            </a:r>
          </a:p>
          <a:p>
            <a:endParaRPr lang="sl-SI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6372B4F0-06F5-438E-A44C-05CBF48F23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7" name="Slika 6" descr="Slika, ki vsebuje besede besedilo&#10;&#10;Opis je samodejno ustvarjen">
            <a:extLst>
              <a:ext uri="{FF2B5EF4-FFF2-40B4-BE49-F238E27FC236}">
                <a16:creationId xmlns:a16="http://schemas.microsoft.com/office/drawing/2014/main" id="{3EFBE3DE-D154-408C-90ED-EB5CCA965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948" y="4627912"/>
            <a:ext cx="1962150" cy="733425"/>
          </a:xfrm>
          <a:prstGeom prst="rect">
            <a:avLst/>
          </a:prstGeom>
        </p:spPr>
      </p:pic>
      <p:pic>
        <p:nvPicPr>
          <p:cNvPr id="8" name="Slika 7" descr="Slika, ki vsebuje besede ura, antena&#10;&#10;Opis je samodejno ustvarjen">
            <a:extLst>
              <a:ext uri="{FF2B5EF4-FFF2-40B4-BE49-F238E27FC236}">
                <a16:creationId xmlns:a16="http://schemas.microsoft.com/office/drawing/2014/main" id="{7DA9D3D4-84B5-4902-B19B-1A093CCC9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8046" y="4707221"/>
            <a:ext cx="1962150" cy="6762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0C489-130A-427E-966A-0E8D44F9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16</a:t>
            </a:fld>
            <a:endParaRPr lang="sl-SI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157CEC1B-36E1-4CFC-944A-F6C0BF7E76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450" y="4642401"/>
            <a:ext cx="3009900" cy="666750"/>
          </a:xfrm>
          <a:prstGeom prst="rect">
            <a:avLst/>
          </a:prstGeom>
        </p:spPr>
      </p:pic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26E6E58B-1A7F-446C-AE9D-86AB99F46FB1}"/>
              </a:ext>
            </a:extLst>
          </p:cNvPr>
          <p:cNvSpPr txBox="1"/>
          <p:nvPr/>
        </p:nvSpPr>
        <p:spPr>
          <a:xfrm>
            <a:off x="99219" y="5528189"/>
            <a:ext cx="10664031" cy="127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Andonovski, G., Mušič, G., Blažič, S., &amp; Škrjanc, I. (2018). Evolving model identification for process monitoring and prediction of non-linear systems.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900" dirty="0">
              <a:solidFill>
                <a:schemeClr val="bg1">
                  <a:lumMod val="50000"/>
                </a:schemeClr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Rong, H. J., Sundararajan, N., Huang, G. bin,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Saratchandran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 (2006). Sequential Adaptive Fuzzy Inference System (SAFIS) for nonlinear system identification and prediction. Fuzzy Sets and Systems, 157(9), 1260–1275.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F6AB5CB-144E-4300-B1F9-120315A1B523}"/>
              </a:ext>
            </a:extLst>
          </p:cNvPr>
          <p:cNvSpPr txBox="1"/>
          <p:nvPr/>
        </p:nvSpPr>
        <p:spPr>
          <a:xfrm>
            <a:off x="9848850" y="4988740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28]</a:t>
            </a:r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6B91DC60-BD89-46DF-92EC-99C6E7DCF1CD}"/>
              </a:ext>
            </a:extLst>
          </p:cNvPr>
          <p:cNvSpPr txBox="1"/>
          <p:nvPr/>
        </p:nvSpPr>
        <p:spPr>
          <a:xfrm>
            <a:off x="6204098" y="5042201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8]</a:t>
            </a:r>
          </a:p>
        </p:txBody>
      </p:sp>
    </p:spTree>
    <p:extLst>
      <p:ext uri="{BB962C8B-B14F-4D97-AF65-F5344CB8AC3E}">
        <p14:creationId xmlns:p14="http://schemas.microsoft.com/office/powerpoint/2010/main" val="25849169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BCEABC0-1914-41D7-80CD-2099FA5A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 fontScale="90000"/>
          </a:bodyPr>
          <a:lstStyle/>
          <a:p>
            <a:r>
              <a:rPr lang="sl-SI" sz="3400" dirty="0"/>
              <a:t>Optimizacija posledičnega dela modela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F9CEB20-11ED-49A7-A1FC-827249F2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280863"/>
            <a:ext cx="9532111" cy="29400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sl-SI" sz="1800" b="1" dirty="0"/>
              <a:t>Lokalna optimizacija, </a:t>
            </a:r>
            <a:r>
              <a:rPr lang="sl-SI" sz="1800" dirty="0"/>
              <a:t>kjer so </a:t>
            </a:r>
            <a:r>
              <a:rPr lang="sl-SI" sz="1800" b="1" dirty="0"/>
              <a:t>parametri vsakega lokalnega modela optimizirani posamezno</a:t>
            </a:r>
            <a:r>
              <a:rPr lang="sl-SI" sz="1800" dirty="0"/>
              <a:t> [30]. To omogoča večjo robustnost in </a:t>
            </a:r>
            <a:r>
              <a:rPr lang="sl-SI" sz="1800" dirty="0" err="1"/>
              <a:t>interpretabilnost</a:t>
            </a:r>
            <a:r>
              <a:rPr lang="sl-SI" sz="1800" dirty="0"/>
              <a:t> lokalnih modelov.</a:t>
            </a:r>
          </a:p>
          <a:p>
            <a:r>
              <a:rPr lang="sl-SI" sz="1800" dirty="0"/>
              <a:t>mehko </a:t>
            </a:r>
            <a:r>
              <a:rPr lang="sl-SI" sz="1800" dirty="0" err="1"/>
              <a:t>utežena</a:t>
            </a:r>
            <a:r>
              <a:rPr lang="sl-SI" sz="1800" dirty="0"/>
              <a:t> rekurzivna metoda najmanjših kvadratov (</a:t>
            </a:r>
            <a:r>
              <a:rPr lang="en-US" sz="1800" dirty="0"/>
              <a:t>fuzzy weighted recursive least squares </a:t>
            </a:r>
            <a:r>
              <a:rPr lang="sl-SI" sz="1800" dirty="0"/>
              <a:t>[10])</a:t>
            </a:r>
          </a:p>
          <a:p>
            <a:r>
              <a:rPr lang="sl-SI" sz="1800" dirty="0"/>
              <a:t>m</a:t>
            </a:r>
            <a:r>
              <a:rPr lang="en-US" sz="1800" dirty="0" err="1"/>
              <a:t>ulti</a:t>
            </a:r>
            <a:r>
              <a:rPr lang="en-US" sz="1800" dirty="0"/>
              <a:t>-innovation</a:t>
            </a:r>
            <a:r>
              <a:rPr lang="sl-SI" sz="1800" dirty="0"/>
              <a:t> [31],</a:t>
            </a:r>
          </a:p>
          <a:p>
            <a:r>
              <a:rPr lang="sl-SI" sz="1800" dirty="0"/>
              <a:t>merilo maksimalne </a:t>
            </a:r>
            <a:r>
              <a:rPr lang="sl-SI" sz="1800" dirty="0" err="1"/>
              <a:t>korentropije</a:t>
            </a:r>
            <a:r>
              <a:rPr lang="sl-SI" sz="1800" dirty="0"/>
              <a:t> (</a:t>
            </a:r>
            <a:r>
              <a:rPr lang="sl-SI" sz="1800" dirty="0" err="1"/>
              <a:t>maximum</a:t>
            </a:r>
            <a:r>
              <a:rPr lang="sl-SI" sz="1800" dirty="0"/>
              <a:t> </a:t>
            </a:r>
            <a:r>
              <a:rPr lang="sl-SI" sz="1800" dirty="0" err="1"/>
              <a:t>correntropy</a:t>
            </a:r>
            <a:r>
              <a:rPr lang="sl-SI" sz="1800" dirty="0"/>
              <a:t> </a:t>
            </a:r>
            <a:r>
              <a:rPr lang="sl-SI" sz="1800" dirty="0" err="1"/>
              <a:t>criterion</a:t>
            </a:r>
            <a:r>
              <a:rPr lang="sl-SI" sz="1800" dirty="0"/>
              <a:t>) [31,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32</a:t>
            </a:r>
            <a:r>
              <a:rPr lang="sl-SI" sz="1800" dirty="0"/>
              <a:t>],</a:t>
            </a:r>
          </a:p>
          <a:p>
            <a:r>
              <a:rPr lang="en-US" sz="1800" dirty="0"/>
              <a:t>Kalman</a:t>
            </a:r>
            <a:r>
              <a:rPr lang="sl-SI" sz="1800" dirty="0"/>
              <a:t>ov</a:t>
            </a:r>
            <a:r>
              <a:rPr lang="en-US" sz="1800" dirty="0"/>
              <a:t> filter</a:t>
            </a:r>
            <a:r>
              <a:rPr lang="sl-SI" sz="1800" dirty="0"/>
              <a:t>,</a:t>
            </a:r>
          </a:p>
          <a:p>
            <a:r>
              <a:rPr lang="sl-SI" sz="1800" dirty="0"/>
              <a:t>stohastični gradientni spust (</a:t>
            </a:r>
            <a:r>
              <a:rPr lang="en-US" sz="1800" dirty="0"/>
              <a:t>Stochastic gradient </a:t>
            </a:r>
            <a:r>
              <a:rPr lang="sl-SI" sz="1800" dirty="0" err="1"/>
              <a:t>descent</a:t>
            </a:r>
            <a:r>
              <a:rPr lang="sl-SI" sz="1800" dirty="0"/>
              <a:t>) idr.</a:t>
            </a:r>
            <a:endParaRPr lang="sl-SI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1400" dirty="0"/>
          </a:p>
        </p:txBody>
      </p:sp>
      <p:pic>
        <p:nvPicPr>
          <p:cNvPr id="5" name="Slika 4" descr="Slika, ki vsebuje besede besedilo&#10;&#10;Opis je samodejno ustvarjen">
            <a:extLst>
              <a:ext uri="{FF2B5EF4-FFF2-40B4-BE49-F238E27FC236}">
                <a16:creationId xmlns:a16="http://schemas.microsoft.com/office/drawing/2014/main" id="{85FA5BB3-5F27-498A-A5B1-638AB5C57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206" y="688511"/>
            <a:ext cx="4812979" cy="1196833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0B61EA95-4EAE-46A4-BC11-7E20A4889C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F7A2B-CAEA-4161-89BE-2C3A49F1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17</a:t>
            </a:fld>
            <a:endParaRPr lang="sl-SI"/>
          </a:p>
        </p:txBody>
      </p:sp>
      <p:sp>
        <p:nvSpPr>
          <p:cNvPr id="12" name="PoljeZBesedilom 11">
            <a:extLst>
              <a:ext uri="{FF2B5EF4-FFF2-40B4-BE49-F238E27FC236}">
                <a16:creationId xmlns:a16="http://schemas.microsoft.com/office/drawing/2014/main" id="{7BDBCDF1-8F7D-4AF8-9E1B-038AAD58F273}"/>
              </a:ext>
            </a:extLst>
          </p:cNvPr>
          <p:cNvSpPr txBox="1"/>
          <p:nvPr/>
        </p:nvSpPr>
        <p:spPr>
          <a:xfrm>
            <a:off x="173736" y="6087167"/>
            <a:ext cx="12691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[10]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26(4), 2213–2224. 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Nelles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O. (2001). Nonlinear System Identification. Nonlinear System Identification.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(2021).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Improving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robustness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recursive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consequent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parameters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neuro-fuzzy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545, 555–574.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[32]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 J.,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H. J.,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Chen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B.,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Wong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P. K.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Correntropy-Based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26(3), 1324–1338. </a:t>
            </a:r>
          </a:p>
        </p:txBody>
      </p:sp>
    </p:spTree>
    <p:extLst>
      <p:ext uri="{BB962C8B-B14F-4D97-AF65-F5344CB8AC3E}">
        <p14:creationId xmlns:p14="http://schemas.microsoft.com/office/powerpoint/2010/main" val="39041529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8293A48-0358-45D5-99AB-1890A56B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sl-SI" sz="5000" dirty="0"/>
              <a:t>Ansambli </a:t>
            </a:r>
            <a:r>
              <a:rPr lang="sl-SI" sz="5000" b="0" i="0" dirty="0" err="1">
                <a:effectLst/>
              </a:rPr>
              <a:t>samorazvijajočih</a:t>
            </a:r>
            <a:r>
              <a:rPr lang="sl-SI" sz="5000" b="0" i="0" dirty="0">
                <a:effectLst/>
              </a:rPr>
              <a:t> se modelov</a:t>
            </a:r>
            <a:endParaRPr lang="sl-SI" sz="5000" dirty="0"/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09770A0F-0E9E-4F08-871D-40BE89BE24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sl-SI" sz="1400" dirty="0"/>
                  <a:t>Učenje </a:t>
                </a:r>
                <a:r>
                  <a:rPr lang="sl-SI" sz="1400" b="1" dirty="0"/>
                  <a:t>več</a:t>
                </a:r>
                <a:r>
                  <a:rPr lang="sl-SI" sz="1400" dirty="0"/>
                  <a:t> različnih </a:t>
                </a:r>
                <a:r>
                  <a:rPr lang="sl-SI" sz="1400" dirty="0" err="1"/>
                  <a:t>samorazvijajočih</a:t>
                </a:r>
                <a:r>
                  <a:rPr lang="sl-SI" sz="1400" dirty="0"/>
                  <a:t> se modelov </a:t>
                </a:r>
                <a:r>
                  <a:rPr lang="sl-SI" sz="1400" b="1" dirty="0"/>
                  <a:t>na istem problemu z različnimi parametri </a:t>
                </a:r>
                <a:r>
                  <a:rPr lang="en-US" sz="1400" dirty="0"/>
                  <a:t>[</a:t>
                </a:r>
                <a:r>
                  <a:rPr lang="sl-SI" sz="1400" dirty="0"/>
                  <a:t>6(</a:t>
                </a:r>
                <a:r>
                  <a:rPr lang="en-US" sz="1400" dirty="0"/>
                  <a:t>10</a:t>
                </a:r>
                <a:r>
                  <a:rPr lang="sl-SI" sz="1400" dirty="0"/>
                  <a:t>)</a:t>
                </a:r>
                <a:r>
                  <a:rPr lang="en-US" sz="1400" dirty="0"/>
                  <a:t>, </a:t>
                </a:r>
                <a:r>
                  <a:rPr lang="sl-SI" sz="1400" dirty="0"/>
                  <a:t>29(</a:t>
                </a:r>
                <a:r>
                  <a:rPr lang="en-US" sz="1400" dirty="0"/>
                  <a:t>48</a:t>
                </a:r>
                <a:r>
                  <a:rPr lang="sl-SI" sz="1400" dirty="0"/>
                  <a:t>)]</a:t>
                </a:r>
                <a14:m>
                  <m:oMath xmlns:m="http://schemas.openxmlformats.org/officeDocument/2006/math">
                    <m:r>
                      <a:rPr lang="sl-SI" sz="14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sl-SI" sz="1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l-SI" sz="1400" b="1" dirty="0"/>
                  <a:t>Ansambel/skupina </a:t>
                </a:r>
                <a:r>
                  <a:rPr lang="sl-SI" sz="1400" dirty="0"/>
                  <a:t>(</a:t>
                </a:r>
                <a:r>
                  <a:rPr lang="sl-SI" sz="1400" dirty="0" err="1"/>
                  <a:t>Ensemble</a:t>
                </a:r>
                <a:r>
                  <a:rPr lang="sl-SI" sz="1400" dirty="0"/>
                  <a:t> </a:t>
                </a:r>
                <a:r>
                  <a:rPr lang="sl-SI" sz="1400" dirty="0" err="1"/>
                  <a:t>learning</a:t>
                </a:r>
                <a:r>
                  <a:rPr lang="sl-SI" sz="1400" dirty="0"/>
                  <a:t>). </a:t>
                </a:r>
              </a:p>
              <a:p>
                <a:pPr marL="0" indent="0">
                  <a:buNone/>
                </a:pPr>
                <a:r>
                  <a:rPr lang="sl-SI" sz="1400" dirty="0"/>
                  <a:t>Posamezni </a:t>
                </a:r>
                <a:r>
                  <a:rPr lang="sl-SI" sz="1400" dirty="0" err="1"/>
                  <a:t>samorazvijajoči</a:t>
                </a:r>
                <a:r>
                  <a:rPr lang="sl-SI" sz="1400" dirty="0"/>
                  <a:t> se modeli v ansamblu se lahko razlikujejo po: </a:t>
                </a:r>
                <a:r>
                  <a:rPr lang="sl-SI" sz="1400" b="1" dirty="0"/>
                  <a:t>strukturi</a:t>
                </a:r>
                <a:r>
                  <a:rPr lang="sl-SI" sz="1400" dirty="0"/>
                  <a:t>, </a:t>
                </a:r>
                <a:r>
                  <a:rPr lang="sl-SI" sz="1400" b="1" dirty="0"/>
                  <a:t>številu</a:t>
                </a:r>
                <a:r>
                  <a:rPr lang="sl-SI" sz="1400" dirty="0"/>
                  <a:t> </a:t>
                </a:r>
                <a:r>
                  <a:rPr lang="sl-SI" sz="1400" b="1" dirty="0"/>
                  <a:t>parametrov</a:t>
                </a:r>
                <a:r>
                  <a:rPr lang="sl-SI" sz="1400" dirty="0"/>
                  <a:t>, </a:t>
                </a:r>
                <a:r>
                  <a:rPr lang="sl-SI" sz="1400" b="1" dirty="0"/>
                  <a:t>omejitvah</a:t>
                </a:r>
                <a:r>
                  <a:rPr lang="sl-SI" sz="1400" dirty="0"/>
                  <a:t> (</a:t>
                </a:r>
                <a:r>
                  <a:rPr lang="sl-SI" sz="1400" dirty="0" err="1"/>
                  <a:t>constraints</a:t>
                </a:r>
                <a:r>
                  <a:rPr lang="sl-SI" sz="1400" dirty="0"/>
                  <a:t>), </a:t>
                </a:r>
                <a:r>
                  <a:rPr lang="sl-SI" sz="1400" b="1" dirty="0" err="1"/>
                  <a:t>kriterijski</a:t>
                </a:r>
                <a:r>
                  <a:rPr lang="sl-SI" sz="1400" dirty="0"/>
                  <a:t> </a:t>
                </a:r>
                <a:r>
                  <a:rPr lang="sl-SI" sz="1400" b="1" dirty="0"/>
                  <a:t>funkciji</a:t>
                </a:r>
                <a:r>
                  <a:rPr lang="sl-SI" sz="1400" dirty="0"/>
                  <a:t>, </a:t>
                </a:r>
                <a:r>
                  <a:rPr lang="sl-SI" sz="1400" b="1" dirty="0"/>
                  <a:t>tipu </a:t>
                </a:r>
                <a:r>
                  <a:rPr lang="sl-SI" sz="1400" b="1" dirty="0" err="1"/>
                  <a:t>samorazvijajočega</a:t>
                </a:r>
                <a:r>
                  <a:rPr lang="sl-SI" sz="1400" b="1" dirty="0"/>
                  <a:t> se modela</a:t>
                </a:r>
                <a:r>
                  <a:rPr lang="sl-SI" sz="1400" dirty="0"/>
                  <a:t>. </a:t>
                </a:r>
              </a:p>
              <a:p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Extreme Learning Machines (ELMs) (2009) 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(naključna inicializacija parametrov in strukture)</a:t>
                </a:r>
              </a:p>
              <a:p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Parsimonious ensemble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pENsemble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(2018) 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(odstranjevanje modelov in izbira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značilk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Ensamble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of Fuzzy-set-Based evolving Models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FBeM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5) (različni parametri in strukture informacijskih granul)</a:t>
                </a:r>
              </a:p>
              <a:p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Ensamble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of optimal evolving granular experts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eOGS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(2019) [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29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]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uses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multiple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aggregation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functions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sl-SI" sz="1400" dirty="0" err="1"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ultilayer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ensemble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evolving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fuzzy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inference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system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MEEFIS (2019) [33] (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samorazvijajoči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se modeli kot gradniki omrežja)</a:t>
                </a:r>
              </a:p>
              <a:p>
                <a:pPr marL="0" indent="0">
                  <a:buNone/>
                </a:pPr>
                <a:endParaRPr lang="sl-SI" sz="1000" dirty="0"/>
              </a:p>
            </p:txBody>
          </p:sp>
        </mc:Choice>
        <mc:Fallback xmlns="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09770A0F-0E9E-4F08-871D-40BE89BE2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  <a:blipFill>
                <a:blip r:embed="rId4"/>
                <a:stretch>
                  <a:fillRect l="-265" t="-874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lika 6">
            <a:extLst>
              <a:ext uri="{FF2B5EF4-FFF2-40B4-BE49-F238E27FC236}">
                <a16:creationId xmlns:a16="http://schemas.microsoft.com/office/drawing/2014/main" id="{3AEBCE64-73E8-4850-89A4-FE6B5C372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634174"/>
            <a:ext cx="4014216" cy="2819987"/>
          </a:xfrm>
          <a:prstGeom prst="rect">
            <a:avLst/>
          </a:prstGeom>
        </p:spPr>
      </p:pic>
      <p:pic>
        <p:nvPicPr>
          <p:cNvPr id="6" name="Picture 42" descr="Diagram&#10;&#10;Description automatically generated">
            <a:extLst>
              <a:ext uri="{FF2B5EF4-FFF2-40B4-BE49-F238E27FC236}">
                <a16:creationId xmlns:a16="http://schemas.microsoft.com/office/drawing/2014/main" id="{22993324-5225-4517-8700-DCDAE7E8F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163352"/>
            <a:ext cx="3995928" cy="2007953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F6BFB80F-971E-4EED-AC4F-C577992174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0B686-6407-4456-82EF-81F1ABA5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18</a:t>
            </a:fld>
            <a:endParaRPr lang="sl-S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3C3C4-EA77-41CB-8F60-0C8EDAFB11B7}"/>
              </a:ext>
            </a:extLst>
          </p:cNvPr>
          <p:cNvSpPr txBox="1"/>
          <p:nvPr/>
        </p:nvSpPr>
        <p:spPr>
          <a:xfrm>
            <a:off x="164592" y="6319499"/>
            <a:ext cx="1185976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F. (2020). An overview on evolving systems and learning from stream data. Evolving Systems, 11(2), 181–198.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Škrjanc, I. (2019).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Ensemble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optimal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experts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OWA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aggregation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time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504, 95–112.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Gu, X. (2021). Multilayer Ensemble Evolving Fuzzy Inference System. IEEE Transactions on Fuzzy Systems, 29(8), 2425–2431.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F293B-59F5-473D-A065-7B9CF5C22F3B}"/>
              </a:ext>
            </a:extLst>
          </p:cNvPr>
          <p:cNvSpPr txBox="1"/>
          <p:nvPr/>
        </p:nvSpPr>
        <p:spPr>
          <a:xfrm>
            <a:off x="11347704" y="6001974"/>
            <a:ext cx="746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  <a:endParaRPr lang="sl-SI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B217FF-7527-4896-90C6-653058EBE4FF}"/>
              </a:ext>
            </a:extLst>
          </p:cNvPr>
          <p:cNvSpPr txBox="1"/>
          <p:nvPr/>
        </p:nvSpPr>
        <p:spPr>
          <a:xfrm>
            <a:off x="11423904" y="2276044"/>
            <a:ext cx="746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  <a:endParaRPr lang="sl-SI" sz="1400" dirty="0"/>
          </a:p>
        </p:txBody>
      </p:sp>
    </p:spTree>
    <p:extLst>
      <p:ext uri="{BB962C8B-B14F-4D97-AF65-F5344CB8AC3E}">
        <p14:creationId xmlns:p14="http://schemas.microsoft.com/office/powerpoint/2010/main" val="8777830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8A86C58-8A74-461B-B93C-6CB631DC2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3800"/>
              <a:t>Odprta vprašanja na področju samorazvijajočih se sistemov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37870A5-48CA-42D8-91E1-59D70059D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2200"/>
              <a:t>obravnava </a:t>
            </a:r>
            <a:r>
              <a:rPr lang="sl-SI" sz="2200" b="1"/>
              <a:t>manjkajočih vzorcev </a:t>
            </a:r>
            <a:r>
              <a:rPr lang="sl-SI" sz="2200"/>
              <a:t>(</a:t>
            </a:r>
            <a:r>
              <a:rPr lang="sl-SI" sz="2200" i="1"/>
              <a:t>missing data</a:t>
            </a:r>
            <a:r>
              <a:rPr lang="sl-SI" sz="2200"/>
              <a:t>) in </a:t>
            </a:r>
            <a:r>
              <a:rPr lang="sl-SI" sz="2200" b="1"/>
              <a:t>osamelcev</a:t>
            </a:r>
            <a:r>
              <a:rPr lang="sl-SI" sz="2200"/>
              <a:t> (</a:t>
            </a:r>
            <a:r>
              <a:rPr lang="sl-SI" sz="2200" i="1"/>
              <a:t>outliers</a:t>
            </a:r>
            <a:r>
              <a:rPr lang="sl-SI" sz="2200"/>
              <a:t>) </a:t>
            </a:r>
          </a:p>
          <a:p>
            <a:r>
              <a:rPr lang="sl-SI" sz="2200" b="1"/>
              <a:t>teoremi</a:t>
            </a:r>
            <a:r>
              <a:rPr lang="sl-SI" sz="2200"/>
              <a:t> za zagotavljanje </a:t>
            </a:r>
            <a:r>
              <a:rPr lang="sl-SI" sz="2200" b="1"/>
              <a:t>dolgoročne stabilnosti </a:t>
            </a:r>
            <a:r>
              <a:rPr lang="sl-SI" sz="2200"/>
              <a:t>in </a:t>
            </a:r>
            <a:r>
              <a:rPr lang="sl-SI" sz="2200" b="1"/>
              <a:t>konvergence</a:t>
            </a:r>
          </a:p>
          <a:p>
            <a:r>
              <a:rPr lang="sl-SI" sz="2200" b="1"/>
              <a:t>načrtovanje experimentov </a:t>
            </a:r>
            <a:r>
              <a:rPr lang="sl-SI" sz="2200"/>
              <a:t>(Design of Experiments)</a:t>
            </a:r>
          </a:p>
          <a:p>
            <a:r>
              <a:rPr lang="sl-SI" sz="2200"/>
              <a:t>predlogi </a:t>
            </a:r>
            <a:r>
              <a:rPr lang="sl-SI" sz="2200" b="1"/>
              <a:t>za potek dela </a:t>
            </a:r>
            <a:r>
              <a:rPr lang="sl-SI" sz="2200"/>
              <a:t>(</a:t>
            </a:r>
            <a:r>
              <a:rPr lang="sl-SI" sz="2200" i="1"/>
              <a:t>workflow</a:t>
            </a:r>
            <a:r>
              <a:rPr lang="sl-SI" sz="2200"/>
              <a:t>)</a:t>
            </a:r>
          </a:p>
          <a:p>
            <a:r>
              <a:rPr lang="sl-SI" sz="2200" b="1"/>
              <a:t>mere uspešnosti </a:t>
            </a:r>
            <a:r>
              <a:rPr lang="sl-SI" sz="2200"/>
              <a:t>sprotnega delovanja (</a:t>
            </a:r>
            <a:r>
              <a:rPr lang="en-US" sz="2200" i="1"/>
              <a:t>performance metrics</a:t>
            </a:r>
            <a:r>
              <a:rPr lang="sl-SI" sz="2200"/>
              <a:t>) </a:t>
            </a:r>
          </a:p>
          <a:p>
            <a:r>
              <a:rPr lang="sl-SI" sz="2200" b="1"/>
              <a:t>paralelno </a:t>
            </a:r>
            <a:r>
              <a:rPr lang="sl-SI" sz="2200"/>
              <a:t>učenje</a:t>
            </a:r>
            <a:r>
              <a:rPr lang="sl-SI" sz="2200" b="1"/>
              <a:t> </a:t>
            </a:r>
            <a:r>
              <a:rPr lang="sl-SI" sz="2200"/>
              <a:t>(</a:t>
            </a:r>
            <a:r>
              <a:rPr lang="en-US" sz="2200" i="1"/>
              <a:t>parallelization</a:t>
            </a:r>
            <a:r>
              <a:rPr lang="sl-SI" sz="2200"/>
              <a:t>)</a:t>
            </a:r>
          </a:p>
          <a:p>
            <a:r>
              <a:rPr lang="sl-SI" sz="2200" b="1"/>
              <a:t>programski senzorji </a:t>
            </a:r>
            <a:r>
              <a:rPr lang="sl-SI" sz="2200"/>
              <a:t>(soft sensors)</a:t>
            </a:r>
          </a:p>
          <a:p>
            <a:r>
              <a:rPr lang="sl-SI" sz="2200"/>
              <a:t>sprotna </a:t>
            </a:r>
            <a:r>
              <a:rPr lang="sl-SI" sz="2200" b="1"/>
              <a:t>izbira regresorjev</a:t>
            </a:r>
          </a:p>
          <a:p>
            <a:endParaRPr lang="sl-SI" sz="2200" i="1"/>
          </a:p>
        </p:txBody>
      </p:sp>
      <p:pic>
        <p:nvPicPr>
          <p:cNvPr id="6" name="Slika 4">
            <a:extLst>
              <a:ext uri="{FF2B5EF4-FFF2-40B4-BE49-F238E27FC236}">
                <a16:creationId xmlns:a16="http://schemas.microsoft.com/office/drawing/2014/main" id="{32FD3291-7A37-4F24-90A6-C0C9C0FE9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CB62C-88D6-4645-930B-4E81DFD1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19</a:t>
            </a:fld>
            <a:endParaRPr lang="sl-S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91943-C082-4EEA-A448-1BFE4DCC071B}"/>
              </a:ext>
            </a:extLst>
          </p:cNvPr>
          <p:cNvSpPr txBox="1"/>
          <p:nvPr/>
        </p:nvSpPr>
        <p:spPr>
          <a:xfrm>
            <a:off x="236421" y="6113659"/>
            <a:ext cx="11279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[34] Škrjanc, I., Iglesias, J.,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Sanchis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A.,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(2019).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neuro-fuzzy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regression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identification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classification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: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Survey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</a:rPr>
              <a:t>490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344–368</a:t>
            </a:r>
          </a:p>
        </p:txBody>
      </p:sp>
    </p:spTree>
    <p:extLst>
      <p:ext uri="{BB962C8B-B14F-4D97-AF65-F5344CB8AC3E}">
        <p14:creationId xmlns:p14="http://schemas.microsoft.com/office/powerpoint/2010/main" val="996068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24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3AC806F-76B1-43B6-8CA1-6EDE0AFB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365125"/>
            <a:ext cx="5254752" cy="1776484"/>
          </a:xfrm>
        </p:spPr>
        <p:txBody>
          <a:bodyPr anchor="b">
            <a:normAutofit/>
          </a:bodyPr>
          <a:lstStyle/>
          <a:p>
            <a:r>
              <a:rPr lang="sl-SI" sz="4600" dirty="0"/>
              <a:t>Adaptiranje filtra </a:t>
            </a:r>
            <a:r>
              <a:rPr lang="sl-SI" sz="4600"/>
              <a:t>z intervalom </a:t>
            </a:r>
            <a:r>
              <a:rPr lang="sl-SI" sz="4600" dirty="0"/>
              <a:t>zaupanja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118952-D35D-497A-8FC7-BAB88B34E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26" y="686733"/>
            <a:ext cx="3532036" cy="522966"/>
          </a:xfrm>
          <a:prstGeom prst="rect">
            <a:avLst/>
          </a:prstGeom>
        </p:spPr>
      </p:pic>
      <p:sp>
        <p:nvSpPr>
          <p:cNvPr id="27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334DCAF6-D811-4BAD-B565-AED2BC4F1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2592131"/>
            <a:ext cx="4454652" cy="3496901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631CC7E-121E-4541-BB99-C70CD605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20</a:t>
            </a:fld>
            <a:endParaRPr lang="sl-SI"/>
          </a:p>
        </p:txBody>
      </p:sp>
      <p:pic>
        <p:nvPicPr>
          <p:cNvPr id="17" name="Slika 4">
            <a:extLst>
              <a:ext uri="{FF2B5EF4-FFF2-40B4-BE49-F238E27FC236}">
                <a16:creationId xmlns:a16="http://schemas.microsoft.com/office/drawing/2014/main" id="{EE89B95C-39D8-427F-A9E8-A93DEA761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480621F9-EF07-4C21-A82F-9480BF7F1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17448" y="5721851"/>
            <a:ext cx="3429000" cy="638175"/>
          </a:xfrm>
          <a:prstGeom prst="rect">
            <a:avLst/>
          </a:prstGeom>
        </p:spPr>
      </p:pic>
      <p:pic>
        <p:nvPicPr>
          <p:cNvPr id="21" name="Picture 20" descr="Chart&#10;&#10;Description automatically generated">
            <a:extLst>
              <a:ext uri="{FF2B5EF4-FFF2-40B4-BE49-F238E27FC236}">
                <a16:creationId xmlns:a16="http://schemas.microsoft.com/office/drawing/2014/main" id="{AE611F5A-ECCA-44F7-9198-67E064EA7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448" y="2814607"/>
            <a:ext cx="4454652" cy="28416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4DDB5E-2213-43D9-89CC-F295E5570C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2521" y="1285051"/>
            <a:ext cx="3408045" cy="53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04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onnsiteX0" fmla="*/ 0 w 3566160"/>
              <a:gd name="connsiteY0" fmla="*/ 0 h 18288"/>
              <a:gd name="connsiteX1" fmla="*/ 665683 w 3566160"/>
              <a:gd name="connsiteY1" fmla="*/ 0 h 18288"/>
              <a:gd name="connsiteX2" fmla="*/ 1331366 w 3566160"/>
              <a:gd name="connsiteY2" fmla="*/ 0 h 18288"/>
              <a:gd name="connsiteX3" fmla="*/ 1818742 w 3566160"/>
              <a:gd name="connsiteY3" fmla="*/ 0 h 18288"/>
              <a:gd name="connsiteX4" fmla="*/ 2413102 w 3566160"/>
              <a:gd name="connsiteY4" fmla="*/ 0 h 18288"/>
              <a:gd name="connsiteX5" fmla="*/ 2936138 w 3566160"/>
              <a:gd name="connsiteY5" fmla="*/ 0 h 18288"/>
              <a:gd name="connsiteX6" fmla="*/ 3566160 w 3566160"/>
              <a:gd name="connsiteY6" fmla="*/ 0 h 18288"/>
              <a:gd name="connsiteX7" fmla="*/ 3566160 w 3566160"/>
              <a:gd name="connsiteY7" fmla="*/ 18288 h 18288"/>
              <a:gd name="connsiteX8" fmla="*/ 2971800 w 3566160"/>
              <a:gd name="connsiteY8" fmla="*/ 18288 h 18288"/>
              <a:gd name="connsiteX9" fmla="*/ 2448763 w 3566160"/>
              <a:gd name="connsiteY9" fmla="*/ 18288 h 18288"/>
              <a:gd name="connsiteX10" fmla="*/ 1854403 w 3566160"/>
              <a:gd name="connsiteY10" fmla="*/ 18288 h 18288"/>
              <a:gd name="connsiteX11" fmla="*/ 1295705 w 3566160"/>
              <a:gd name="connsiteY11" fmla="*/ 18288 h 18288"/>
              <a:gd name="connsiteX12" fmla="*/ 772668 w 3566160"/>
              <a:gd name="connsiteY12" fmla="*/ 18288 h 18288"/>
              <a:gd name="connsiteX13" fmla="*/ 0 w 3566160"/>
              <a:gd name="connsiteY13" fmla="*/ 18288 h 18288"/>
              <a:gd name="connsiteX14" fmla="*/ 0 w 356616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DF5DA5A8-19A2-4A07-8852-61DABF4BE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92" y="3093215"/>
            <a:ext cx="4169664" cy="3304457"/>
          </a:xfrm>
          <a:prstGeom prst="rect">
            <a:avLst/>
          </a:prstGeom>
        </p:spPr>
      </p:pic>
      <p:pic>
        <p:nvPicPr>
          <p:cNvPr id="16" name="Picture 15" descr="Chart, pie chart&#10;&#10;Description automatically generated">
            <a:extLst>
              <a:ext uri="{FF2B5EF4-FFF2-40B4-BE49-F238E27FC236}">
                <a16:creationId xmlns:a16="http://schemas.microsoft.com/office/drawing/2014/main" id="{7169D02A-738F-4A1D-841C-7AD1C268E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948" y="502272"/>
            <a:ext cx="3099816" cy="2324862"/>
          </a:xfrm>
          <a:prstGeom prst="rect">
            <a:avLst/>
          </a:prstGeom>
        </p:spPr>
      </p:pic>
      <p:pic>
        <p:nvPicPr>
          <p:cNvPr id="6" name="Content Placeholder 5" descr="A picture containing text, sky, screenshot&#10;&#10;Description automatically generated">
            <a:extLst>
              <a:ext uri="{FF2B5EF4-FFF2-40B4-BE49-F238E27FC236}">
                <a16:creationId xmlns:a16="http://schemas.microsoft.com/office/drawing/2014/main" id="{11273977-0306-4732-886E-2D7878917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269" y="3109773"/>
            <a:ext cx="4250284" cy="3283344"/>
          </a:xfrm>
          <a:prstGeom prst="rect">
            <a:avLst/>
          </a:prstGeom>
        </p:spPr>
      </p:pic>
      <p:pic>
        <p:nvPicPr>
          <p:cNvPr id="29" name="Slika 4">
            <a:extLst>
              <a:ext uri="{FF2B5EF4-FFF2-40B4-BE49-F238E27FC236}">
                <a16:creationId xmlns:a16="http://schemas.microsoft.com/office/drawing/2014/main" id="{E6DFB3EB-3544-4EC3-A94E-5B07BA933E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205CD9C-FBAB-4107-9DB6-EF4CBDC9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21</a:t>
            </a:fld>
            <a:endParaRPr lang="sl-SI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6B9EAAC1-1378-43B9-A00C-895749E308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9534" y="721545"/>
            <a:ext cx="3785616" cy="1892808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3AC806F-76B1-43B6-8CA1-6EDE0AFB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1"/>
            <a:ext cx="4436745" cy="1967628"/>
          </a:xfrm>
        </p:spPr>
        <p:txBody>
          <a:bodyPr anchor="b">
            <a:noAutofit/>
          </a:bodyPr>
          <a:lstStyle/>
          <a:p>
            <a:r>
              <a:rPr lang="sl-SI" sz="4000" dirty="0"/>
              <a:t>Hevristično zaporedje </a:t>
            </a:r>
            <a:r>
              <a:rPr lang="sl-SI" sz="4000" dirty="0" err="1"/>
              <a:t>štopničastih</a:t>
            </a:r>
            <a:r>
              <a:rPr lang="sl-SI" sz="4000" dirty="0"/>
              <a:t> vzbujanj </a:t>
            </a:r>
          </a:p>
        </p:txBody>
      </p:sp>
    </p:spTree>
    <p:extLst>
      <p:ext uri="{BB962C8B-B14F-4D97-AF65-F5344CB8AC3E}">
        <p14:creationId xmlns:p14="http://schemas.microsoft.com/office/powerpoint/2010/main" val="862989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AF285-9A60-469C-BA60-D5A69C68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 err="1"/>
              <a:t>Ploskovni</a:t>
            </a:r>
            <a:r>
              <a:rPr lang="en-US" sz="5400" dirty="0"/>
              <a:t> </a:t>
            </a:r>
            <a:r>
              <a:rPr lang="en-US" sz="5400" dirty="0" err="1"/>
              <a:t>toplotni</a:t>
            </a:r>
            <a:r>
              <a:rPr lang="en-US" sz="5400" dirty="0"/>
              <a:t> </a:t>
            </a:r>
            <a:r>
              <a:rPr lang="en-US" sz="5400" dirty="0" err="1"/>
              <a:t>izmenjevalec</a:t>
            </a:r>
            <a:endParaRPr lang="en-US" sz="54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Graphical user interface&#10;&#10;Description automatically generated">
            <a:extLst>
              <a:ext uri="{FF2B5EF4-FFF2-40B4-BE49-F238E27FC236}">
                <a16:creationId xmlns:a16="http://schemas.microsoft.com/office/drawing/2014/main" id="{A9DFFE1D-79CC-48BE-85BF-925273213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9237" y="3526956"/>
            <a:ext cx="3758184" cy="3025337"/>
          </a:xfrm>
          <a:prstGeom prst="rect">
            <a:avLst/>
          </a:prstGeom>
        </p:spPr>
      </p:pic>
      <p:pic>
        <p:nvPicPr>
          <p:cNvPr id="11" name="Picture 10" descr="Chart&#10;&#10;Description automatically generated">
            <a:extLst>
              <a:ext uri="{FF2B5EF4-FFF2-40B4-BE49-F238E27FC236}">
                <a16:creationId xmlns:a16="http://schemas.microsoft.com/office/drawing/2014/main" id="{75EB5119-B4C8-40B2-A5DA-311D2C0CB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97" y="3545747"/>
            <a:ext cx="3758184" cy="3006546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DB77E753-C938-4351-A2F6-4A61CAD63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674" y="3526956"/>
            <a:ext cx="3758184" cy="29783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2C146-EB87-4B8B-9909-1330629F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46738694-986F-45B7-B7F7-D4F61B9DF5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BFA8AF-E164-4459-8996-D7A261CCA1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329" y="2096298"/>
            <a:ext cx="4981575" cy="381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E21BD4-0FA1-494D-8FC8-A2AD494C00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6026" y="2611126"/>
            <a:ext cx="2876550" cy="45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757207-0570-4430-99CF-01CB4D72DD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3622" y="2649226"/>
            <a:ext cx="1924050" cy="381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8D1F5E-A68D-4C93-B678-7A709EBA6E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4691" y="1680924"/>
            <a:ext cx="3504045" cy="159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4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</TotalTime>
  <Words>8927</Words>
  <Application>Microsoft Office PowerPoint</Application>
  <PresentationFormat>Širokozaslonsko</PresentationFormat>
  <Paragraphs>412</Paragraphs>
  <Slides>22</Slides>
  <Notes>22</Notes>
  <HiddenSlides>0</HiddenSlides>
  <MMClips>0</MMClips>
  <ScaleCrop>false</ScaleCrop>
  <HeadingPairs>
    <vt:vector size="6" baseType="variant">
      <vt:variant>
        <vt:lpstr>Uporabljene pisave</vt:lpstr>
      </vt:variant>
      <vt:variant>
        <vt:i4>8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CMR12</vt:lpstr>
      <vt:lpstr>CMR17</vt:lpstr>
      <vt:lpstr>Times New Roman</vt:lpstr>
      <vt:lpstr>Verdana</vt:lpstr>
      <vt:lpstr>Officeova tema</vt:lpstr>
      <vt:lpstr>PowerPointova predstavitev</vt:lpstr>
      <vt:lpstr>Samorazvijajoči se (inteligentni) sistemi</vt:lpstr>
      <vt:lpstr>Samorazvijajoči se (inteligentni) sistemi</vt:lpstr>
      <vt:lpstr>Tok podatkov</vt:lpstr>
      <vt:lpstr>Samorazvijajoči se mehki sistemi</vt:lpstr>
      <vt:lpstr>Samorazvijajoči se nevro-mehki sistemi</vt:lpstr>
      <vt:lpstr>Transparentnost in interpretabilnost</vt:lpstr>
      <vt:lpstr>Rojenje in granulacija</vt:lpstr>
      <vt:lpstr>Metode rojenja</vt:lpstr>
      <vt:lpstr>Dodajanje rojev</vt:lpstr>
      <vt:lpstr>Združevanje, razcep in odstranjevanje rojev</vt:lpstr>
      <vt:lpstr>Pogoji za združevanje rojev</vt:lpstr>
      <vt:lpstr>Združevanje rojev</vt:lpstr>
      <vt:lpstr>Razcep rojev</vt:lpstr>
      <vt:lpstr>Razcep rojev</vt:lpstr>
      <vt:lpstr>Odstranjevanje rojev</vt:lpstr>
      <vt:lpstr>Optimizacija posledičnega dela modela</vt:lpstr>
      <vt:lpstr>Ansambli samorazvijajočih se modelov</vt:lpstr>
      <vt:lpstr>Odprta vprašanja na področju samorazvijajočih se sistemov</vt:lpstr>
      <vt:lpstr>Adaptiranje filtra z intervalom zaupanja</vt:lpstr>
      <vt:lpstr>Hevristično zaporedje štopničastih vzbujanj </vt:lpstr>
      <vt:lpstr>Ploskovni toplotni izmenjevalec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Samo razvijajoči se sistemi Seminarska naloga 1</dc:title>
  <dc:creator>Ožbot, Miha</dc:creator>
  <cp:lastModifiedBy>Ožbot, Miha</cp:lastModifiedBy>
  <cp:revision>25</cp:revision>
  <dcterms:created xsi:type="dcterms:W3CDTF">2022-03-16T16:17:31Z</dcterms:created>
  <dcterms:modified xsi:type="dcterms:W3CDTF">2022-04-14T10:13:14Z</dcterms:modified>
</cp:coreProperties>
</file>